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at is BLIP" id="{7f37de1c-7f5a-c69c-5861-7c75bb931c44}">
          <p14:sldIdLst>
            <p14:sldId id="256"/>
          </p14:sldIdLst>
        </p14:section>
        <p14:section name="Default-1" id="{0358a0f7-8d64-bf1f-3f63-ba99b1deec92}">
          <p14:sldIdLst>
            <p14:sldId id="257"/>
            <p14:sldId id="258"/>
          </p14:sldIdLst>
        </p14:section>
        <p14:section name="What We Built" id="{4dff3781-415d-b655-6f30-fed1ebe99fd9}">
          <p14:sldIdLst>
            <p14:sldId id="259"/>
          </p14:sldIdLst>
        </p14:section>
        <p14:section name="Default-2" id="{cd08e0a6-87df-5f52-cdc9-d3bd639d21e6}">
          <p14:sldIdLst>
            <p14:sldId id="260"/>
          </p14:sldIdLst>
        </p14:section>
        <p14:section name="Results" id="{9decd005-9236-20b2-413e-48471eaefe17}">
          <p14:sldIdLst>
            <p14:sldId id="261"/>
          </p14:sldIdLst>
        </p14:section>
        <p14:section name="Default-3" id="{05cbf7f3-fae0-457d-ec6e-1b12b7fb5c5f}">
          <p14:sldIdLst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MAE (kcal/mol)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MPNN (backbone)</c:v>
                  </c:pt>
                  <c:pt idx="1">
                    <c:v>BLIP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0.078</c:v>
                </c:pt>
                <c:pt idx="1">
                  <c:v>0.158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Force MAE (kcal/mol/Å)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MPNN (backbone)</c:v>
                  </c:pt>
                  <c:pt idx="1">
                    <c:v>BLIP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0.178</c:v>
                </c:pt>
                <c:pt idx="1">
                  <c:v>0.207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3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AA29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AA29E"/>
                    </a:solidFill>
                    <a:latin typeface="Arial"/>
                  </a:rPr>
                  <a:t>MAE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A2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D1B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Nominal (target)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50%</c:v>
                  </c:pt>
                  <c:pt idx="1">
                    <c:v>80%</c:v>
                  </c:pt>
                  <c:pt idx="2">
                    <c:v>90%</c:v>
                  </c:pt>
                  <c:pt idx="3">
                    <c:v>95%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0.8</c:v>
                </c:pt>
                <c:pt idx="2">
                  <c:v>0.9</c:v>
                </c:pt>
                <c:pt idx="3">
                  <c:v>0.95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Empirical (actual, energy)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50%</c:v>
                  </c:pt>
                  <c:pt idx="1">
                    <c:v>80%</c:v>
                  </c:pt>
                  <c:pt idx="2">
                    <c:v>90%</c:v>
                  </c:pt>
                  <c:pt idx="3">
                    <c:v>95%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0.038</c:v>
                </c:pt>
                <c:pt idx="1">
                  <c:v>0.075</c:v>
                </c:pt>
                <c:pt idx="2">
                  <c:v>0.1</c:v>
                </c:pt>
                <c:pt idx="3">
                  <c:v>0.123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DCE3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A2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D1B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MAE of retained subset</c:v>
                </c:pt>
              </c:strCache>
            </c:strRef>
          </c:tx>
          <c:spPr>
            <a:solidFill>
              <a:srgbClr val="2E86AB"/>
            </a:solidFill>
            <a:ln w="3175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  <c:pt idx="5">
                    <c:v>60%</c:v>
                  </c:pt>
                  <c:pt idx="6">
                    <c:v>70%</c:v>
                  </c:pt>
                  <c:pt idx="7">
                    <c:v>80%</c:v>
                  </c:pt>
                  <c:pt idx="8">
                    <c:v>90%</c:v>
                  </c:pt>
                  <c:pt idx="9">
                    <c:v>100%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0.1557</c:v>
                </c:pt>
                <c:pt idx="1">
                  <c:v>0.1561</c:v>
                </c:pt>
                <c:pt idx="2">
                  <c:v>0.1583</c:v>
                </c:pt>
                <c:pt idx="3">
                  <c:v>0.1574</c:v>
                </c:pt>
                <c:pt idx="4">
                  <c:v>0.1574</c:v>
                </c:pt>
                <c:pt idx="5">
                  <c:v>0.1569</c:v>
                </c:pt>
                <c:pt idx="6">
                  <c:v>0.1573</c:v>
                </c:pt>
                <c:pt idx="7">
                  <c:v>0.1568</c:v>
                </c:pt>
                <c:pt idx="8">
                  <c:v>0.1575</c:v>
                </c:pt>
                <c:pt idx="9">
                  <c:v>0.1577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AA29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AA29E"/>
                    </a:solidFill>
                    <a:latin typeface="Arial"/>
                  </a:rPr>
                  <a:t>Coverage kept (most confident → all)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7"/>
          <c:min val="0.14"/>
        </c:scaling>
        <c:delete val="0"/>
        <c:axPos val="l"/>
        <c:majorGridlines>
          <c:spPr>
            <a:ln w="9525" cap="flat">
              <a:solidFill>
                <a:srgbClr val="DCE3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AA29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AA29E"/>
                    </a:solidFill>
                    <a:latin typeface="Arial"/>
                  </a:rPr>
                  <a:t>Energy MAE (kcal/mol)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A2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i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PG-S2-47 · Phase 2 — BLIP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2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A8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2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BLIP — Phase 2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Learned Interatomic Potentials for MD17 energy &amp; force prediction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PG-S2-47 · Hydrogen Production Materials Discovery · Adelaide University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BLIP, really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vision-language model — no images, no text. A Bayesian uncertainty method for molecular energy &amp; force prediction.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943100"/>
            <a:ext cx="640080" cy="640080"/>
          </a:xfrm>
          <a:prstGeom prst="ellipse">
            <a:avLst/>
          </a:prstGeom>
          <a:solidFill>
            <a:srgbClr val="8AA2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431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4708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MPNN (backbone)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6771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energy &amp; force prediction. No uncertainty by construction.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2F6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40614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061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12724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— this deck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547872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backbone; message-passing weights carry Gaussian noise. Many stochastic passes → a predictive mean and a confidence estimate.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869180"/>
            <a:ext cx="640080" cy="640080"/>
          </a:xfrm>
          <a:prstGeom prst="ellipse">
            <a:avLst/>
          </a:prstGeom>
          <a:solidFill>
            <a:srgbClr val="8AA2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8691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77316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Graph-stochastic (next)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51937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backbone again; noise moves into node/edge features instead of weights. Not yet started.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2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same backbone, stochastic weights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EEF2F6"/>
          </a:solidFill>
          <a:ln w="12700">
            <a:solidFill>
              <a:srgbClr val="8AA2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geometry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z, R (3D positions)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67712" y="2340864"/>
            <a:ext cx="219456" cy="164592"/>
          </a:xfrm>
          <a:prstGeom prst="rightArrow">
            <a:avLst/>
          </a:prstGeom>
          <a:solidFill>
            <a:srgbClr val="8AA29E"/>
          </a:solidFill>
          <a:ln/>
        </p:spPr>
      </p:sp>
      <p:sp>
        <p:nvSpPr>
          <p:cNvPr id="7" name="Shape 5"/>
          <p:cNvSpPr/>
          <p:nvPr/>
        </p:nvSpPr>
        <p:spPr>
          <a:xfrm>
            <a:off x="2514600" y="18288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EEF2F6"/>
          </a:solidFill>
          <a:ln w="12700">
            <a:solidFill>
              <a:srgbClr val="8AA2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RBF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distances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2340864"/>
            <a:ext cx="219456" cy="164592"/>
          </a:xfrm>
          <a:prstGeom prst="rightArrow">
            <a:avLst/>
          </a:prstGeom>
          <a:solidFill>
            <a:srgbClr val="8AA29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82880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965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BLIP layers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StochasticLinear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message/update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02552" y="2340864"/>
            <a:ext cx="219456" cy="164592"/>
          </a:xfrm>
          <a:prstGeom prst="rightArrow">
            <a:avLst/>
          </a:prstGeom>
          <a:solidFill>
            <a:srgbClr val="8AA29E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0" y="18288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EEF2F6"/>
          </a:solidFill>
          <a:ln w="12700">
            <a:solidFill>
              <a:srgbClr val="8AA2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377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77072" y="2340864"/>
            <a:ext cx="219456" cy="164592"/>
          </a:xfrm>
          <a:prstGeom prst="rightArrow">
            <a:avLst/>
          </a:prstGeom>
          <a:solidFill>
            <a:srgbClr val="8AA29E"/>
          </a:solidFill>
          <a:ln/>
        </p:spPr>
      </p:sp>
      <p:sp>
        <p:nvSpPr>
          <p:cNvPr id="19" name="Shape 17"/>
          <p:cNvSpPr/>
          <p:nvPr/>
        </p:nvSpPr>
        <p:spPr>
          <a:xfrm>
            <a:off x="8823960" y="18288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EEF2F6"/>
          </a:solidFill>
          <a:ln w="12700">
            <a:solidFill>
              <a:srgbClr val="8AA2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2377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−∂E/∂R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33832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EF2F6"/>
          </a:solidFill>
          <a:ln w="15875">
            <a:solidFill>
              <a:srgbClr val="E07A5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617720" y="3456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Nₘᶄ stochastic passes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 samples)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rot="5400000">
            <a:off x="5577840" y="3108960"/>
            <a:ext cx="164592" cy="274320"/>
          </a:xfrm>
          <a:prstGeom prst="rightArrow">
            <a:avLst/>
          </a:prstGeom>
          <a:solidFill>
            <a:srgbClr val="E07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6634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B263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160520" y="4800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mean(E), var(E)  →  predicted value
</a:t>
            </a:r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var(E)  →  this is the confidence estimate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→ Phase 2's only architectural change is StochasticLinear in place of nn.Linear — same graph, same RBF, same message/update shapes.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2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this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4C956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898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real bug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099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BLIP's noise scale leaked across batch-mates — one molecule's prediction depended on which others shared its batch. Fixed; verified to float64 roundoff.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502920" cy="502920"/>
          </a:xfrm>
          <a:prstGeom prst="ellipse">
            <a:avLst/>
          </a:prstGeom>
          <a:solidFill>
            <a:srgbClr val="4C956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2257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the KL regularizer into training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4261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kl_weight × model.kl_divergence() / n_batches added to the loss — previously computed but never used.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02920" cy="502920"/>
          </a:xfrm>
          <a:prstGeom prst="ellipse">
            <a:avLst/>
          </a:prstGeom>
          <a:solidFill>
            <a:srgbClr val="4C95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552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real Monte-Carlo evaluation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753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now draws 20 stochastic forward passes per frame instead of one — producing an actual predictive variance, not a single noisy point.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502920" cy="502920"/>
          </a:xfrm>
          <a:prstGeom prst="ellipse">
            <a:avLst/>
          </a:prstGeom>
          <a:solidFill>
            <a:srgbClr val="4C95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1879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6 uncertainty metrics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079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ECE, Spearman correlation, risk–coverage curve, Gaussian NLL/CRPS, sharpness — new module, 18 tests.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502920" cy="502920"/>
          </a:xfrm>
          <a:prstGeom prst="ellipse">
            <a:avLst/>
          </a:prstGeom>
          <a:solidFill>
            <a:srgbClr val="4C956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120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it for real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4406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epochs, 55,509-frame test set — the first real Phase 2 result, not a placeholder.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2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training run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 output — phase2_blip.yaml, 200 epochs, ~80 minutes on CPU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343400"/>
          </a:xfrm>
          <a:prstGeom prst="roundRect">
            <a:avLst>
              <a:gd name="adj" fmla="val 1263"/>
            </a:avLst>
          </a:prstGeom>
          <a:solidFill>
            <a:srgbClr val="1B263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146304" cy="14630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146304" cy="14630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828800"/>
            <a:ext cx="146304" cy="146304"/>
          </a:xfrm>
          <a:prstGeom prst="ellipse">
            <a:avLst/>
          </a:prstGeom>
          <a:solidFill>
            <a:srgbClr val="4C956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106070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ml.training.train experiments/configs/phase2_blip.yaml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  train_loss  train_E   train_F   train_KL   val_loss   val_E    val_F    val_KL      lr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1   70317.91    16.04    702.76     25.95     47958.22    19.01   478.87    51.74   5.00e-04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100     55.12      0.10      0.17      37.59       107.33     0.04     0.33     73.89   6.25e-05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200     31.26      0.02      0.08      23.61        64.46     0.04     0.17     47.01   1.56e-05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epoch 200 (val_loss 64.4613); 200 epochs in 4783.5 s, stopped by max_epochs.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Checkpoint: experiments/checkpoints/phase2_blip.pt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 energy MAE 0.1577 kcal/mol, force MAE 0.2065 kcal/mol/Ang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2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Point-estimate accuracy: BLIP vs. its own backbone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training budget, same scoring path — only the weight-noise mechanism differs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91640"/>
          <a:ext cx="10515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costs some point accuracy — expected, since weight-space noise is a regularizer, not a free upgrade.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2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BLIP's confidence trustworthy?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well-calibrated 90% interval should contain the true value 90% of the time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91640"/>
          <a:ext cx="10515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nominal-90% interval actually contains the truth only ~10% of the time — badly overconfident.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2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uncertainty-quality metrics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400800" cy="27432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Calibration Error (ECE)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Spearman(predicted σ, |error|)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predicted σ (sharpness)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CRPS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0" y="1280160"/>
            <a:ext cx="4343400" cy="2743200"/>
          </a:xfrm>
          <a:prstGeom prst="roundRect">
            <a:avLst>
              <a:gd name="adj" fmla="val 3333"/>
            </a:avLst>
          </a:prstGeom>
          <a:solidFill>
            <a:srgbClr val="1B263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0" y="146304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~6×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7543800" y="26974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uncertainty is too narrow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the actual error (0.028 vs. 0.158)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sounds confident and isn't. ECE near 0 and Spearman near +1 would mean “trustworthy”; both metrics say the opposite today.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definitions (Normal distribution assumed from predicted mean/variance) — pending Dongxiao's sign-off on binning, NLL vs. CRPS, and correlation convention.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2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confidence find the good predictions?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most-confident X% of predictions — a useful uncertainty should make that subset more accurate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91640"/>
          <a:ext cx="10515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line — the 10% most-confident predictions are barely more accurate than the full set. Sorting by BLIP's stated uncertainty doesn't separate good from bad.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2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result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BLIP trains. BLIP predicts. BLIP's confidence is not yet useful.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wiring bug —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works correctly end to end, and the metrics correctly detected the problem they were built to catch.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cause: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loss — energy_w·MSE(E) + force_w·MSE(F) + kl_weight·KL — ties predicted variance to actual error. kl_weight = 0.01 was a starting guess, not tuned for calibration.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051560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47091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CLAUDE.md: an uncalibrated result is a legitimate finding, not a failure — Phase 2's job was to measure this honestly, and it did.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A8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EEF2F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1907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Dongxiao's sign-off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 strategy, NLL vs. CRPS, correlation convention — today's definitions are a proposal, not a ruling.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EEF2F6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73736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1907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Retune kl_weight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was a starting guess. Push it up until the predicted σ actually tracks the real error.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EEF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05079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calibration-aware loss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Gaussian NLL instead of plain MSE, so the loss itself rewards honest uncertainty.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EEF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06908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05079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Phase 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663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Graph-space stochasticity, compared against this real (if uncalibrated) Phase 2 baseline — not a placeholder.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metrics, and this run are committed and pushed — alex/main.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2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IP_Phase2">
  <a:themeElements>
    <a:clrScheme name="BLIP_Phase2">
      <a:dk1>
        <a:srgbClr val="0D1B2A"/>
      </a:dk1>
      <a:lt1>
        <a:srgbClr val="FFFFFF"/>
      </a:lt1>
      <a:dk2>
        <a:srgbClr val="1B263B"/>
      </a:dk2>
      <a:lt2>
        <a:srgbClr val="EEF2F6"/>
      </a:lt2>
      <a:accent1>
        <a:srgbClr val="2E86AB"/>
      </a:accent1>
      <a:accent2>
        <a:srgbClr val="5FA8D3"/>
      </a:accent2>
      <a:accent3>
        <a:srgbClr val="E07A5F"/>
      </a:accent3>
      <a:accent4>
        <a:srgbClr val="8AA29E"/>
      </a:accent4>
      <a:accent5>
        <a:srgbClr val="F2C14E"/>
      </a:accent5>
      <a:accent6>
        <a:srgbClr val="4C956C"/>
      </a:accent6>
      <a:hlink>
        <a:srgbClr val="2E86AB"/>
      </a:hlink>
      <a:folHlink>
        <a:srgbClr val="1B263B"/>
      </a:folHlink>
    </a:clrScheme>
    <a:fontScheme name="BLIP_Phase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2026-10-19T06:31:01Z</dcterms:created>
  <dcterms:modified xsi:type="dcterms:W3CDTF">2026-10-19T06:31:01Z</dcterms:modified>
</cp:coreProperties>
</file>