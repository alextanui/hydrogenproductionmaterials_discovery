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68681134-1e60-5a7f-adcd-f2ec0e8db2c5}">
          <p14:sldIdLst>
            <p14:sldId id="256"/>
            <p14:sldId id="257"/>
          </p14:sldIdLst>
        </p14:section>
        <p14:section name="Data" id="{9f1af404-a9b3-ecff-bba2-2a3b1182ddaa}">
          <p14:sldIdLst>
            <p14:sldId id="258"/>
            <p14:sldId id="259"/>
            <p14:sldId id="260"/>
          </p14:sldIdLst>
        </p14:section>
        <p14:section name="Phase 1" id="{a0ae6d79-a549-3fd6-8a10-b3cae02be03a}">
          <p14:sldIdLst>
            <p14:sldId id="261"/>
            <p14:sldId id="262"/>
            <p14:sldId id="263"/>
          </p14:sldIdLst>
        </p14:section>
        <p14:section name="Phase 2" id="{5d04e1c3-5944-ee18-d0ed-f733023581e5}">
          <p14:sldIdLst>
            <p14:sldId id="264"/>
            <p14:sldId id="265"/>
            <p14:sldId id="266"/>
            <p14:sldId id="267"/>
            <p14:sldId id="268"/>
          </p14:sldIdLst>
        </p14:section>
        <p14:section name="Next steps" id="{f61c2998-56c0-be93-c6d2-43760a84dae5}">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D1B2A"/>
                </a:solidFill>
                <a:latin typeface="+mn-lt"/>
              </a:defRPr>
            </a:pPr>
            <a:r>
              <a:rPr sz="1500" b="0" i="0" u="none" strike="noStrike">
                <a:solidFill>
                  <a:srgbClr val="0D1B2A"/>
                </a:solidFill>
                <a:latin typeface="+mn-lt"/>
              </a:rPr>
              <a:t>Energy MAE (kcal/mol)</a:t>
            </a:r>
          </a:p>
        </c:rich>
      </c:tx>
      <c:layout/>
      <c:overlay val="0"/>
    </c:title>
    <c:autoTitleDeleted val="0"/>
    <c:plotArea>
      <c:layout/>
      <c:barChart>
        <c:barDir val="bar"/>
        <c:grouping val="clustered"/>
        <c:varyColors val="0"/>
        <c:ser>
          <c:idx val="0"/>
          <c:order val="0"/>
          <c:tx>
            <c:strRef>
              <c:f>Sheet1!$B$1</c:f>
              <c:strCache>
                <c:ptCount val="1"/>
                <c:pt idx="0">
                  <c:v>Energy MAE</c:v>
                </c:pt>
              </c:strCache>
            </c:strRef>
          </c:tx>
          <c:spPr>
            <a:solidFill>
              <a:srgbClr val="1F7FB6"/>
            </a:solidFill>
            <a:effectLst/>
          </c:spPr>
          <c:invertIfNegative val="0"/>
          <c:dLbls>
            <c:numFmt formatCode="0.000" sourceLinked="0"/>
            <c:txPr>
              <a:bodyPr/>
              <a:lstStyle/>
              <a:p>
                <a:pPr>
                  <a:defRPr b="0" i="0" strike="noStrike" sz="1300" u="none">
                    <a:solidFill>
                      <a:srgbClr val="0D1B2A"/>
                    </a:solidFill>
                    <a:latin typeface="+mn-lt"/>
                  </a:defRPr>
                </a:pPr>
              </a:p>
            </c:txPr>
            <c:showLegendKey val="0"/>
            <c:showVal val="1"/>
            <c:showCatName val="0"/>
            <c:showSerName val="0"/>
            <c:showPercent val="0"/>
            <c:showBubbleSize val="0"/>
            <c:showLeaderLines val="0"/>
          </c:dLbls>
          <c:cat>
            <c:multiLvlStrRef>
              <c:f>Sheet1!$A$2:$A$6</c:f>
              <c:multiLvlStrCache>
                <c:ptCount val="5"/>
                <c:lvl>
                  <c:pt idx="0">
                    <c:v>DimeNet++</c:v>
                  </c:pt>
                  <c:pt idx="1">
                    <c:v>PaiNN</c:v>
                  </c:pt>
                  <c:pt idx="2">
                    <c:v>PhysNet</c:v>
                  </c:pt>
                  <c:pt idx="3">
                    <c:v>MPNN</c:v>
                  </c:pt>
                  <c:pt idx="4">
                    <c:v>SchNet</c:v>
                  </c:pt>
                </c:lvl>
              </c:multiLvlStrCache>
            </c:multiLvlStrRef>
          </c:cat>
          <c:val>
            <c:numRef>
              <c:f>Sheet1!$B$2:$B$6</c:f>
              <c:numCache>
                <c:formatCode>General</c:formatCode>
                <c:ptCount val="5"/>
                <c:pt idx="0">
                  <c:v>0.05372059598443495</c:v>
                </c:pt>
                <c:pt idx="1">
                  <c:v>0.05571056044965681</c:v>
                </c:pt>
                <c:pt idx="2">
                  <c:v>0.06105020694842278</c:v>
                </c:pt>
                <c:pt idx="3">
                  <c:v>0.07789826311949413</c:v>
                </c:pt>
                <c:pt idx="4">
                  <c:v>0.1714391191068115</c:v>
                </c:pt>
              </c:numCache>
            </c:numRef>
          </c:val>
        </c:ser>
        <c:dLbls>
          <c:numFmt formatCode="0.000" sourceLinked="0"/>
          <c:txPr>
            <a:bodyPr/>
            <a:lstStyle/>
            <a:p>
              <a:pPr>
                <a:defRPr b="0" i="0" strike="noStrike" sz="1300" u="none">
                  <a:solidFill>
                    <a:srgbClr val="0D1B2A"/>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DCE3E9"/>
            </a:solidFill>
            <a:prstDash val="solid"/>
            <a:round/>
          </a:ln>
        </c:spPr>
        <c:txPr>
          <a:bodyPr/>
          <a:lstStyle/>
          <a:p>
            <a:pPr>
              <a:defRPr sz="1400" b="0" i="0" u="none" strike="noStrike">
                <a:solidFill>
                  <a:srgbClr val="0D1B2A"/>
                </a:solidFill>
                <a:latin typeface="+mn-lt"/>
              </a:defRPr>
            </a:pPr>
            <a:endParaRPr lang="en-US"/>
          </a:p>
        </c:txPr>
        <c:crossAx val="2094734552"/>
        <c:crosses val="autoZero"/>
        <c:auto val="1"/>
        <c:lblAlgn val="ctr"/>
        <c:noMultiLvlLbl val="1"/>
      </c:catAx>
      <c:valAx>
        <c:axId val="2094734552"/>
        <c:scaling>
          <c:orientation val="minMax"/>
          <c:max val="0.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D1B2A"/>
                </a:solidFill>
                <a:latin typeface="+mn-lt"/>
              </a:defRPr>
            </a:pPr>
            <a:r>
              <a:rPr sz="1500" b="0" i="0" u="none" strike="noStrike">
                <a:solidFill>
                  <a:srgbClr val="0D1B2A"/>
                </a:solidFill>
                <a:latin typeface="+mn-lt"/>
              </a:rPr>
              <a:t>Force MAE (kcal/mol/Å)</a:t>
            </a:r>
          </a:p>
        </c:rich>
      </c:tx>
      <c:layout/>
      <c:overlay val="0"/>
    </c:title>
    <c:autoTitleDeleted val="0"/>
    <c:plotArea>
      <c:layout/>
      <c:barChart>
        <c:barDir val="bar"/>
        <c:grouping val="clustered"/>
        <c:varyColors val="0"/>
        <c:ser>
          <c:idx val="0"/>
          <c:order val="0"/>
          <c:tx>
            <c:strRef>
              <c:f>Sheet1!$B$1</c:f>
              <c:strCache>
                <c:ptCount val="1"/>
                <c:pt idx="0">
                  <c:v>Force MAE</c:v>
                </c:pt>
              </c:strCache>
            </c:strRef>
          </c:tx>
          <c:spPr>
            <a:solidFill>
              <a:srgbClr val="1F7FB6"/>
            </a:solidFill>
            <a:effectLst/>
          </c:spPr>
          <c:invertIfNegative val="0"/>
          <c:dLbls>
            <c:numFmt formatCode="0.000" sourceLinked="0"/>
            <c:txPr>
              <a:bodyPr/>
              <a:lstStyle/>
              <a:p>
                <a:pPr>
                  <a:defRPr b="0" i="0" strike="noStrike" sz="1300" u="none">
                    <a:solidFill>
                      <a:srgbClr val="0D1B2A"/>
                    </a:solidFill>
                    <a:latin typeface="+mn-lt"/>
                  </a:defRPr>
                </a:pPr>
              </a:p>
            </c:txPr>
            <c:showLegendKey val="0"/>
            <c:showVal val="1"/>
            <c:showCatName val="0"/>
            <c:showSerName val="0"/>
            <c:showPercent val="0"/>
            <c:showBubbleSize val="0"/>
            <c:showLeaderLines val="0"/>
          </c:dLbls>
          <c:cat>
            <c:multiLvlStrRef>
              <c:f>Sheet1!$A$2:$A$6</c:f>
              <c:multiLvlStrCache>
                <c:ptCount val="5"/>
                <c:lvl>
                  <c:pt idx="0">
                    <c:v>DimeNet++</c:v>
                  </c:pt>
                  <c:pt idx="1">
                    <c:v>PaiNN</c:v>
                  </c:pt>
                  <c:pt idx="2">
                    <c:v>PhysNet</c:v>
                  </c:pt>
                  <c:pt idx="3">
                    <c:v>MPNN</c:v>
                  </c:pt>
                  <c:pt idx="4">
                    <c:v>SchNet</c:v>
                  </c:pt>
                </c:lvl>
              </c:multiLvlStrCache>
            </c:multiLvlStrRef>
          </c:cat>
          <c:val>
            <c:numRef>
              <c:f>Sheet1!$B$2:$B$6</c:f>
              <c:numCache>
                <c:formatCode>General</c:formatCode>
                <c:ptCount val="5"/>
                <c:pt idx="0">
                  <c:v>0.11422385762295388</c:v>
                </c:pt>
                <c:pt idx="1">
                  <c:v>0.11170388273606027</c:v>
                </c:pt>
                <c:pt idx="2">
                  <c:v>0.1738378256459337</c:v>
                </c:pt>
                <c:pt idx="3">
                  <c:v>0.17748337347624676</c:v>
                </c:pt>
                <c:pt idx="4">
                  <c:v>0.4270285094733669</c:v>
                </c:pt>
              </c:numCache>
            </c:numRef>
          </c:val>
        </c:ser>
        <c:dLbls>
          <c:numFmt formatCode="0.000" sourceLinked="0"/>
          <c:txPr>
            <a:bodyPr/>
            <a:lstStyle/>
            <a:p>
              <a:pPr>
                <a:defRPr b="0" i="0" strike="noStrike" sz="1300" u="none">
                  <a:solidFill>
                    <a:srgbClr val="0D1B2A"/>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DCE3E9"/>
            </a:solidFill>
            <a:prstDash val="solid"/>
            <a:round/>
          </a:ln>
        </c:spPr>
        <c:txPr>
          <a:bodyPr/>
          <a:lstStyle/>
          <a:p>
            <a:pPr>
              <a:defRPr sz="1400" b="0" i="0" u="none" strike="noStrike">
                <a:solidFill>
                  <a:srgbClr val="0D1B2A"/>
                </a:solidFill>
                <a:latin typeface="+mn-lt"/>
              </a:defRPr>
            </a:pPr>
            <a:endParaRPr lang="en-US"/>
          </a:p>
        </c:txPr>
        <c:crossAx val="2094734552"/>
        <c:crosses val="autoZero"/>
        <c:auto val="1"/>
        <c:lblAlgn val="ctr"/>
        <c:noMultiLvlLbl val="1"/>
      </c:catAx>
      <c:valAx>
        <c:axId val="2094734552"/>
        <c:scaling>
          <c:orientation val="minMax"/>
          <c:max val="0.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MSE-trained BLIP</c:v>
                </c:pt>
              </c:strCache>
            </c:strRef>
          </c:tx>
          <c:spPr>
            <a:solidFill>
              <a:srgbClr val="1F7FB6"/>
            </a:solidFill>
            <a:effectLst/>
          </c:spPr>
          <c:invertIfNegative val="0"/>
          <c:dLbls>
            <c:numFmt formatCode="0.0&quot;%&quot;" sourceLinked="0"/>
            <c:txPr>
              <a:bodyPr/>
              <a:lstStyle/>
              <a:p>
                <a:pPr>
                  <a:defRPr b="0" i="0" strike="noStrike" sz="1200" u="none">
                    <a:solidFill>
                      <a:srgbClr val="0D1B2A"/>
                    </a:solidFill>
                    <a:latin typeface="+mn-lt"/>
                  </a:defRPr>
                </a:pPr>
              </a:p>
            </c:txPr>
            <c:dLblPos val="outEnd"/>
            <c:showLegendKey val="0"/>
            <c:showVal val="1"/>
            <c:showCatName val="0"/>
            <c:showSerName val="0"/>
            <c:showPercent val="0"/>
            <c:showBubbleSize val="0"/>
            <c:showLeaderLines val="0"/>
          </c:dLbls>
          <c:cat>
            <c:multiLvlStrRef>
              <c:f>Sheet1!$A$2:$A$5</c:f>
              <c:multiLvlStrCache>
                <c:ptCount val="4"/>
                <c:lvl>
                  <c:pt idx="0">
                    <c:v>50% interval</c:v>
                  </c:pt>
                  <c:pt idx="1">
                    <c:v>80% interval</c:v>
                  </c:pt>
                  <c:pt idx="2">
                    <c:v>90% interval</c:v>
                  </c:pt>
                  <c:pt idx="3">
                    <c:v>95% interval</c:v>
                  </c:pt>
                </c:lvl>
              </c:multiLvlStrCache>
            </c:multiLvlStrRef>
          </c:cat>
          <c:val>
            <c:numRef>
              <c:f>Sheet1!$B$2:$B$5</c:f>
              <c:numCache>
                <c:formatCode>General</c:formatCode>
                <c:ptCount val="4"/>
                <c:pt idx="0">
                  <c:v>3.8155974706804305</c:v>
                </c:pt>
                <c:pt idx="1">
                  <c:v>7.537516438775695</c:v>
                </c:pt>
                <c:pt idx="2">
                  <c:v>9.965951467329623</c:v>
                </c:pt>
                <c:pt idx="3">
                  <c:v>12.343944225260769</c:v>
                </c:pt>
              </c:numCache>
            </c:numRef>
          </c:val>
        </c:ser>
        <c:ser>
          <c:idx val="1"/>
          <c:order val="1"/>
          <c:tx>
            <c:strRef>
              <c:f>Sheet1!$C$1</c:f>
              <c:strCache>
                <c:ptCount val="1"/>
                <c:pt idx="0">
                  <c:v>NLL-trained BLIP</c:v>
                </c:pt>
              </c:strCache>
            </c:strRef>
          </c:tx>
          <c:spPr>
            <a:solidFill>
              <a:srgbClr val="D9603C"/>
            </a:solidFill>
            <a:effectLst/>
          </c:spPr>
          <c:invertIfNegative val="0"/>
          <c:dLbls>
            <c:numFmt formatCode="0.0&quot;%&quot;" sourceLinked="0"/>
            <c:txPr>
              <a:bodyPr/>
              <a:lstStyle/>
              <a:p>
                <a:pPr>
                  <a:defRPr b="0" i="0" strike="noStrike" sz="1200" u="none">
                    <a:solidFill>
                      <a:srgbClr val="0D1B2A"/>
                    </a:solidFill>
                    <a:latin typeface="+mn-lt"/>
                  </a:defRPr>
                </a:pPr>
              </a:p>
            </c:txPr>
            <c:dLblPos val="outEnd"/>
            <c:showLegendKey val="0"/>
            <c:showVal val="1"/>
            <c:showCatName val="0"/>
            <c:showSerName val="0"/>
            <c:showPercent val="0"/>
            <c:showBubbleSize val="0"/>
            <c:showLeaderLines val="0"/>
          </c:dLbls>
          <c:cat>
            <c:multiLvlStrRef>
              <c:f>Sheet1!$A$2:$A$5</c:f>
              <c:multiLvlStrCache>
                <c:ptCount val="4"/>
                <c:lvl>
                  <c:pt idx="0">
                    <c:v>50% interval</c:v>
                  </c:pt>
                  <c:pt idx="1">
                    <c:v>80% interval</c:v>
                  </c:pt>
                  <c:pt idx="2">
                    <c:v>90% interval</c:v>
                  </c:pt>
                  <c:pt idx="3">
                    <c:v>95% interval</c:v>
                  </c:pt>
                </c:lvl>
              </c:multiLvlStrCache>
            </c:multiLvlStrRef>
          </c:cat>
          <c:val>
            <c:numRef>
              <c:f>Sheet1!$C$2:$C$5</c:f>
              <c:numCache>
                <c:formatCode>General</c:formatCode>
                <c:ptCount val="4"/>
                <c:pt idx="0">
                  <c:v>0.7764506656578213</c:v>
                </c:pt>
                <c:pt idx="1">
                  <c:v>1.4105820677727936</c:v>
                </c:pt>
                <c:pt idx="2">
                  <c:v>1.8699670323731286</c:v>
                </c:pt>
                <c:pt idx="3">
                  <c:v>2.251887081374192</c:v>
                </c:pt>
              </c:numCache>
            </c:numRef>
          </c:val>
        </c:ser>
        <c:dLbls>
          <c:numFmt formatCode="0.0&quot;%&quot;" sourceLinked="0"/>
          <c:txPr>
            <a:bodyPr/>
            <a:lstStyle/>
            <a:p>
              <a:pPr>
                <a:defRPr b="0" i="0" strike="noStrike" sz="1200" u="none">
                  <a:solidFill>
                    <a:srgbClr val="0D1B2A"/>
                  </a:solidFill>
                  <a:latin typeface="+mn-lt"/>
                </a:defRPr>
              </a:pPr>
            </a:p>
          </c:txPr>
          <c:dLblPos val="outEnd"/>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2"/>
          <c:order val="2"/>
          <c:tx>
            <c:strRef>
              <c:f>Sheet1!$D$1</c:f>
              <c:strCache>
                <c:ptCount val="1"/>
                <c:pt idx="0">
                  <c:v>Target (calibrated)</c:v>
                </c:pt>
              </c:strCache>
            </c:strRef>
          </c:tx>
          <c:spPr>
            <a:solidFill>
              <a:srgbClr val="0D1B2A"/>
            </a:solidFill>
            <a:ln w="25400" cap="flat">
              <a:solidFill>
                <a:srgbClr val="0D1B2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0D1B2A"/>
              </a:solidFill>
              <a:ln w="9525" cap="flat">
                <a:solidFill>
                  <a:srgbClr val="0D1B2A"/>
                </a:solidFill>
                <a:prstDash val="solid"/>
                <a:round/>
              </a:ln>
              <a:effectLst/>
            </c:spPr>
          </c:marker>
          <c:cat>
            <c:multiLvlStrRef>
              <c:f>Sheet1!$A$2:$A$5</c:f>
              <c:multiLvlStrCache>
                <c:ptCount val="4"/>
                <c:lvl>
                  <c:pt idx="0">
                    <c:v>50% interval</c:v>
                  </c:pt>
                  <c:pt idx="1">
                    <c:v>80% interval</c:v>
                  </c:pt>
                  <c:pt idx="2">
                    <c:v>90% interval</c:v>
                  </c:pt>
                  <c:pt idx="3">
                    <c:v>95% interval</c:v>
                  </c:pt>
                </c:lvl>
              </c:multiLvlStrCache>
            </c:multiLvlStrRef>
          </c:cat>
          <c:val>
            <c:numRef>
              <c:f>Sheet1!$D$2:$D$5</c:f>
              <c:numCache>
                <c:formatCode>General</c:formatCode>
                <c:ptCount val="4"/>
                <c:pt idx="0">
                  <c:v>50</c:v>
                </c:pt>
                <c:pt idx="1">
                  <c:v>80</c:v>
                </c:pt>
                <c:pt idx="2">
                  <c:v>90</c:v>
                </c:pt>
                <c:pt idx="3">
                  <c:v>95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CE3E9"/>
            </a:solidFill>
            <a:prstDash val="solid"/>
            <a:round/>
          </a:ln>
        </c:spPr>
        <c:txPr>
          <a:bodyPr/>
          <a:lstStyle/>
          <a:p>
            <a:pPr>
              <a:defRPr sz="1300" b="0" i="0" u="none" strike="noStrike">
                <a:solidFill>
                  <a:srgbClr val="0D1B2A"/>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CE3E9"/>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8"/>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0D1B2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covers three things: what the MD17 data looks like, how the five Phase 1 baseline models compare under one fair protocol, and what we learned from Phase 2 (BLIP), including this week's attempt to fix its uncertainty and why it didn't work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is done: five standard architectures, trained and scored the same way. Phase 2 is BLIP, which adds a confidence estimate. It trains and predicts, but its confidence isn't trustworthy yet. Phase 3 is our novel contribution, moving the randomness from the weights into the graph itself. It started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Shijin's EDA checked every gold dataset before training. Each one has a single, bell-shaped energy distribution, no strange second peaks and no clusters of outliers. Force magnitudes behave the same way. So the data didn't need any cleaning beyond the automated checks already in the pipeline. Everything that follows uses ethanol at DFT level: 555,092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MD17 is a molecular dynamics trajectory, so frame 1,000 and frame 1,001 are almost the same structure. If we shuffled frames randomly, the test set would be full of near-copies of training frames and every error would look better than it really is. Instead the split uses contiguous blocks: train first, then validation, then test. The left panel shows ethanol; the right shows aspirin's literature split. No colours interleave.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model builds a graph by connecting atoms closer than 5 ångströms. For ethanol, every atom is within 5 Å of every other, so the graph is fully connected and the cutoff does nothing. It only starts removing edges for bigger molecules: azobenzene keeps 59% of pairs. That's fine for MD17, but MD22 goes up to 370 atoms, so this default needs a deliberate check before we use it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harness, each model had been trained differently: different subsets, losses, even a different dataset for DimeNet++. Those numbers couldn't be compared. Now every model gets exactly the same frames, the same training recipe and the same scoring code. The benchmark script checks this automatically and refuses to put a run in the table if anything differs, including the exact test data, via a fingerprint. We train on a 10,000-frame subset because the full training split would take about 32 hours for PaiNN alone on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Phase 1 results from the retrained runs of 19 October. DimeNet++ and PaiNN are clearly ahead of the other three, and SchNet is clearly behind on both energy and forces. But DimeNet++ and PaiNN are within two thousandths of a kcal/mol on energy and swap places on forces, with one training run each. I wouldn't call a winner between them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QA view of the table. When Alex retrained all five models on 19 October with exactly the same settings but on a different machine, SchNet's energy error moved by 46%. So the large gaps, like SchNet against the rest, are real. Small gaps, like PaiNN against DimeNet++, are within what a single rerun can move. Also, four of the five models were still improving when they hit the 200-epoch cap, and the models are different sizes. We'll add repeat seeds before ranking the close ones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BLIP keeps the same MPNN backbone as Phase 1 but makes its weights random: every forward pass samples slightly different weights. We run each structure 20 times. The average is the prediction; how much the 20 answers disagree is the uncertainty. For materials discovery that uncertainty is the point: it should tell us which predictions to trust and which structures need an expensive DFT check. For that it has to be calibrated and it has to track the actual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Alex's first real BLIP run. Accuracy is about twice as bad as the plain MPNN on energy, which is expected to some degree because the noise acts as a regulariser. The bigger problem is the confidence. Its 95% intervals only contain the true energy 12% of the time, because the spread it predicts is about six times smaller than its real error. That's not a bug in the code: the MSE loss simply never asks the model to get its uncertainty right. So the plan was to switch to a likelihood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likelihood loss divides the squared error by the predicted variance. Right after the MSE warm-up, BLIP's variance was close to zero, so the loss exploded to around 10 to the 8. Alex's fix adds a floor to the variance, set from the validation error at the moment of the switch. That works: the run went straight through the switch and finished all 200 epochs.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of the likelihood loss was to widen BLIP's intervals until they matched its real error. The opposite happened. The 95% interval now contains the true energy 2% of the time instead of 12%, the predicted spread halved, and the calibration error got worse. Energy accuracy also got a little worse, while force accuracy improved slightly. Spearman barely moved. Both runs were scored on identical test data, so this is a fair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from the run records, not a rerun, so treat it as the leading explanation until Dongxiao confirms it. The floor was set from the validation error at epoch 20, when the model was still poor: 21.8. By the end the real squared error is about 0.036, so the floor is roughly 600 times too big. With a floor that size, the loss is almost a constant: the logged value settles at the floor's own term, to within a thousandth. The model's own uncertainty can only make the loss worse by growing, so training shrinks it. That explains every number on the previous slide. The fix is to keep the floor small relative to the current error, or let it decay after the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next. First, fix the floor and rerun BLIP from a clean commit. Second, Dongxiao signs off the uncertainty metric definitions, which are still provisional. Third, repeat seeds so we can say whether PaiNN or DimeNet++ is genuinely better. Fourth, Phase 3 has started and will be scored by the same harness, so all three phases end up in one comparable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515600" cy="137160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822960" y="3611880"/>
            <a:ext cx="10515600" cy="822960"/>
          </a:xfrm>
          <a:prstGeom prst="rect">
            <a:avLst/>
          </a:prstGeom>
          <a:noFill/>
          <a:ln/>
        </p:spPr>
        <p:txBody>
          <a:bodyPr wrap="square" rtlCol="0"/>
          <a:lstStyle>
            <a:lvl1pPr algn="l" indent="0" marL="0">
              <a:buNone/>
              <a:defRPr lang="en-US" sz="2000" i="1" dirty="0">
                <a:solidFill>
                  <a:schemeClr val="accent6"/>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4" name="Text 0"/>
          <p:cNvSpPr/>
          <p:nvPr/>
        </p:nvSpPr>
        <p:spPr>
          <a:xfrm>
            <a:off x="822960" y="5989320"/>
            <a:ext cx="10515600" cy="365760"/>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PG-S2-47 · Hydrogen Production Materials Discovery · Adelaide University</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ph idx="101" type="body" hasCustomPrompt="1"/>
          </p:nvPr>
        </p:nvSpPr>
        <p:spPr>
          <a:xfrm>
            <a:off x="548640" y="1097280"/>
            <a:ext cx="11064240" cy="411480"/>
          </a:xfrm>
          <a:prstGeom prst="rect">
            <a:avLst/>
          </a:prstGeom>
          <a:noFill/>
          <a:ln/>
        </p:spPr>
        <p:txBody>
          <a:bodyPr wrap="square" rtlCol="0"/>
          <a:lstStyle>
            <a:lvl1pPr algn="l" indent="0" marL="0">
              <a:buNone/>
              <a:defRPr lang="en-US" sz="1500" i="1" dirty="0">
                <a:solidFill>
                  <a:schemeClr val="accent1"/>
                </a:solidFill>
                <a:latin typeface="Calibri" pitchFamily="34" charset="0"/>
                <a:ea typeface="Calibri" pitchFamily="34" charset="-122"/>
                <a:cs typeface="Calibri" pitchFamily="34" charset="-120"/>
              </a:defRPr>
            </a:lvl1pPr>
          </a:lstStyle>
          <a:p>
            <a:pPr algn="l" indent="0" marL="0">
              <a:buNone/>
            </a:pPr>
            <a:endParaRPr lang="en-US" sz="15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F8580"/>
                </a:solidFill>
                <a:latin typeface="Calibri" pitchFamily="34" charset="0"/>
                <a:ea typeface="Calibri" pitchFamily="34" charset="-122"/>
                <a:cs typeface="Calibri" pitchFamily="34" charset="-120"/>
              </a:rPr>
              <a:t>PG-S2-47 · Prototype demo · 23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858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ph idx="101" type="body" hasCustomPrompt="1"/>
          </p:nvPr>
        </p:nvSpPr>
        <p:spPr>
          <a:xfrm>
            <a:off x="548640" y="1097280"/>
            <a:ext cx="11064240" cy="411480"/>
          </a:xfrm>
          <a:prstGeom prst="rect">
            <a:avLst/>
          </a:prstGeom>
          <a:noFill/>
          <a:ln/>
        </p:spPr>
        <p:txBody>
          <a:bodyPr wrap="square" rtlCol="0"/>
          <a:lstStyle>
            <a:lvl1pPr algn="l" indent="0" marL="0">
              <a:buNone/>
              <a:defRPr lang="en-US" sz="1500" i="1" dirty="0">
                <a:solidFill>
                  <a:schemeClr val="accent6"/>
                </a:solidFill>
                <a:latin typeface="Calibri" pitchFamily="34" charset="0"/>
                <a:ea typeface="Calibri" pitchFamily="34" charset="-122"/>
                <a:cs typeface="Calibri" pitchFamily="34" charset="-120"/>
              </a:defRPr>
            </a:lvl1pPr>
          </a:lstStyle>
          <a:p>
            <a:pPr algn="l" indent="0" marL="0">
              <a:buNone/>
            </a:pPr>
            <a:endParaRPr lang="en-US" sz="15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PG-S2-47 · Prototype demo · 23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29E"/>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85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515600" cy="137160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Prototype demo: data, baselines and uncertainty</a:t>
            </a:r>
            <a:endParaRPr lang="en-US" sz="4400" dirty="0"/>
          </a:p>
        </p:txBody>
      </p:sp>
      <p:sp>
        <p:nvSpPr>
          <p:cNvPr id="3" name="Text 0"/>
          <p:cNvSpPr/>
          <p:nvPr>
            <p:ph idx="101" type="body" hasCustomPrompt="1"/>
          </p:nvPr>
        </p:nvSpPr>
        <p:spPr>
          <a:xfrm>
            <a:off x="822960" y="3611880"/>
            <a:ext cx="10515600" cy="822960"/>
          </a:xfrm>
          <a:prstGeom prst="rect">
            <a:avLst/>
          </a:prstGeom>
          <a:noFill/>
          <a:ln/>
        </p:spPr>
        <p:txBody>
          <a:bodyPr wrap="square" lIns="0" tIns="0" rIns="0" bIns="0" rtlCol="0" anchor="t"/>
          <a:lstStyle/>
          <a:p>
            <a:pPr algn="l" indent="0" marL="0">
              <a:buNone/>
            </a:pPr>
            <a:r>
              <a:rPr lang="en-US" sz="2000" i="1" dirty="0">
                <a:solidFill>
                  <a:schemeClr val="accent6"/>
                </a:solidFill>
                <a:latin typeface="Calibri" pitchFamily="34" charset="0"/>
                <a:ea typeface="Calibri" pitchFamily="34" charset="-122"/>
                <a:cs typeface="Calibri" pitchFamily="34" charset="-120"/>
              </a:rPr>
              <a:t>Adaptive graph-space uncertainty modelling for ML interatomic potentials · 23 October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Where the project stands</a:t>
            </a:r>
            <a:endParaRPr lang="en-US" sz="3000" dirty="0"/>
          </a:p>
        </p:txBody>
      </p:sp>
      <p:sp>
        <p:nvSpPr>
          <p:cNvPr id="3" name="Text 0"/>
          <p:cNvSpPr/>
          <p:nvPr>
            <p:ph idx="101" type="body" hasCustomPrompt="1"/>
          </p:nvPr>
        </p:nvSpPr>
        <p:spPr>
          <a:xfrm>
            <a:off x="548640" y="1097280"/>
            <a:ext cx="11064240" cy="411480"/>
          </a:xfrm>
          <a:prstGeom prst="rect">
            <a:avLst/>
          </a:prstGeom>
          <a:noFill/>
          <a:ln/>
        </p:spPr>
        <p:txBody>
          <a:bodyPr wrap="square" lIns="0" tIns="0" rIns="0" bIns="0" rtlCol="0" anchor="t"/>
          <a:lstStyle/>
          <a:p>
            <a:pPr algn="l" indent="0" marL="0">
              <a:buNone/>
            </a:pPr>
            <a:r>
              <a:rPr lang="en-US" sz="1500" i="1" dirty="0">
                <a:solidFill>
                  <a:schemeClr val="accent1"/>
                </a:solidFill>
                <a:latin typeface="Calibri" pitchFamily="34" charset="0"/>
                <a:ea typeface="Calibri" pitchFamily="34" charset="-122"/>
                <a:cs typeface="Calibri" pitchFamily="34" charset="-120"/>
              </a:rPr>
              <a:t>Three phases, all benchmarked on MD17 ethanol through one shared training and scoring harness</a:t>
            </a:r>
            <a:endParaRPr lang="en-US" sz="1500" dirty="0"/>
          </a:p>
        </p:txBody>
      </p:sp>
      <p:sp>
        <p:nvSpPr>
          <p:cNvPr id="4" name="phase1-card"/>
          <p:cNvSpPr/>
          <p:nvPr/>
        </p:nvSpPr>
        <p:spPr>
          <a:xfrm>
            <a:off x="548640" y="1783080"/>
            <a:ext cx="3566160" cy="3429000"/>
          </a:xfrm>
          <a:prstGeom prst="roundRect">
            <a:avLst>
              <a:gd name="adj" fmla="val 2133"/>
            </a:avLst>
          </a:prstGeom>
          <a:solidFill>
            <a:schemeClr val="bg2"/>
          </a:solidFill>
          <a:ln/>
        </p:spPr>
      </p:sp>
      <p:sp>
        <p:nvSpPr>
          <p:cNvPr id="5" name="phase1-circle"/>
          <p:cNvSpPr/>
          <p:nvPr/>
        </p:nvSpPr>
        <p:spPr>
          <a:xfrm>
            <a:off x="822960" y="2057400"/>
            <a:ext cx="640080" cy="640080"/>
          </a:xfrm>
          <a:prstGeom prst="ellipse">
            <a:avLst/>
          </a:prstGeom>
          <a:solidFill>
            <a:schemeClr val="accent3"/>
          </a:solidFill>
          <a:ln/>
        </p:spPr>
      </p:sp>
      <p:sp>
        <p:nvSpPr>
          <p:cNvPr id="6" name="phase1-num"/>
          <p:cNvSpPr txBox="1"/>
          <p:nvPr/>
        </p:nvSpPr>
        <p:spPr>
          <a:xfrm>
            <a:off x="822960" y="205740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latin typeface="Cambria" pitchFamily="34" charset="0"/>
                <a:ea typeface="Cambria" pitchFamily="34" charset="-122"/>
                <a:cs typeface="Cambria" pitchFamily="34" charset="-120"/>
              </a:rPr>
              <a:t>1</a:t>
            </a:r>
            <a:endParaRPr lang="en-US" sz="2100" dirty="0"/>
          </a:p>
        </p:txBody>
      </p:sp>
      <p:sp>
        <p:nvSpPr>
          <p:cNvPr id="7" name="phase1-name"/>
          <p:cNvSpPr txBox="1"/>
          <p:nvPr/>
        </p:nvSpPr>
        <p:spPr>
          <a:xfrm>
            <a:off x="822960" y="2880360"/>
            <a:ext cx="3017520" cy="68580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Phase 1 · Deterministic baselines</a:t>
            </a:r>
            <a:endParaRPr lang="en-US" sz="1800" dirty="0"/>
          </a:p>
        </p:txBody>
      </p:sp>
      <p:sp>
        <p:nvSpPr>
          <p:cNvPr id="8" name="phase1-status-chip"/>
          <p:cNvSpPr/>
          <p:nvPr/>
        </p:nvSpPr>
        <p:spPr>
          <a:xfrm>
            <a:off x="822960" y="3611880"/>
            <a:ext cx="3017520" cy="384048"/>
          </a:xfrm>
          <a:prstGeom prst="roundRect">
            <a:avLst>
              <a:gd name="adj" fmla="val 14286"/>
            </a:avLst>
          </a:prstGeom>
          <a:solidFill>
            <a:schemeClr val="bg1"/>
          </a:solidFill>
          <a:ln w="15875">
            <a:solidFill>
              <a:srgbClr val="4C956C"/>
            </a:solidFill>
            <a:prstDash val="solid"/>
          </a:ln>
        </p:spPr>
      </p:sp>
      <p:sp>
        <p:nvSpPr>
          <p:cNvPr id="9" name="phase1-status"/>
          <p:cNvSpPr txBox="1"/>
          <p:nvPr/>
        </p:nvSpPr>
        <p:spPr>
          <a:xfrm>
            <a:off x="822960" y="3611880"/>
            <a:ext cx="3017520" cy="384048"/>
          </a:xfrm>
          <a:prstGeom prst="rect">
            <a:avLst/>
          </a:prstGeom>
          <a:noFill/>
          <a:ln/>
        </p:spPr>
        <p:txBody>
          <a:bodyPr wrap="square" lIns="0" tIns="0" rIns="0" bIns="0" rtlCol="0" anchor="ctr"/>
          <a:lstStyle/>
          <a:p>
            <a:pPr algn="ctr" indent="0" marL="0">
              <a:buNone/>
            </a:pPr>
            <a:r>
              <a:rPr lang="en-US" sz="1300" b="1" dirty="0">
                <a:solidFill>
                  <a:srgbClr val="4C956C"/>
                </a:solidFill>
                <a:latin typeface="Calibri" pitchFamily="34" charset="0"/>
                <a:ea typeface="Calibri" pitchFamily="34" charset="-122"/>
                <a:cs typeface="Calibri" pitchFamily="34" charset="-120"/>
              </a:rPr>
              <a:t>Complete</a:t>
            </a:r>
            <a:endParaRPr lang="en-US" sz="1300" dirty="0"/>
          </a:p>
        </p:txBody>
      </p:sp>
      <p:sp>
        <p:nvSpPr>
          <p:cNvPr id="10" name="phase1-text"/>
          <p:cNvSpPr txBox="1"/>
          <p:nvPr/>
        </p:nvSpPr>
        <p:spPr>
          <a:xfrm>
            <a:off x="822960" y="4160520"/>
            <a:ext cx="3017520" cy="12801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Five architectures trained and scored under one locked protocol. Best energy error 0.054 kcal/mol.</a:t>
            </a:r>
            <a:endParaRPr lang="en-US" sz="1400" dirty="0"/>
          </a:p>
        </p:txBody>
      </p:sp>
      <p:sp>
        <p:nvSpPr>
          <p:cNvPr id="11" name="phase2-card"/>
          <p:cNvSpPr/>
          <p:nvPr/>
        </p:nvSpPr>
        <p:spPr>
          <a:xfrm>
            <a:off x="4297680" y="1783080"/>
            <a:ext cx="3566160" cy="3429000"/>
          </a:xfrm>
          <a:prstGeom prst="roundRect">
            <a:avLst>
              <a:gd name="adj" fmla="val 2133"/>
            </a:avLst>
          </a:prstGeom>
          <a:solidFill>
            <a:schemeClr val="bg2"/>
          </a:solidFill>
          <a:ln/>
        </p:spPr>
      </p:sp>
      <p:sp>
        <p:nvSpPr>
          <p:cNvPr id="12" name="phase2-circle"/>
          <p:cNvSpPr/>
          <p:nvPr/>
        </p:nvSpPr>
        <p:spPr>
          <a:xfrm>
            <a:off x="4572000" y="2057400"/>
            <a:ext cx="640080" cy="640080"/>
          </a:xfrm>
          <a:prstGeom prst="ellipse">
            <a:avLst/>
          </a:prstGeom>
          <a:solidFill>
            <a:schemeClr val="accent2"/>
          </a:solidFill>
          <a:ln/>
        </p:spPr>
      </p:sp>
      <p:sp>
        <p:nvSpPr>
          <p:cNvPr id="13" name="phase2-num"/>
          <p:cNvSpPr txBox="1"/>
          <p:nvPr/>
        </p:nvSpPr>
        <p:spPr>
          <a:xfrm>
            <a:off x="4572000" y="205740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latin typeface="Cambria" pitchFamily="34" charset="0"/>
                <a:ea typeface="Cambria" pitchFamily="34" charset="-122"/>
                <a:cs typeface="Cambria" pitchFamily="34" charset="-120"/>
              </a:rPr>
              <a:t>2</a:t>
            </a:r>
            <a:endParaRPr lang="en-US" sz="2100" dirty="0"/>
          </a:p>
        </p:txBody>
      </p:sp>
      <p:sp>
        <p:nvSpPr>
          <p:cNvPr id="14" name="phase2-name"/>
          <p:cNvSpPr txBox="1"/>
          <p:nvPr/>
        </p:nvSpPr>
        <p:spPr>
          <a:xfrm>
            <a:off x="4572000" y="2880360"/>
            <a:ext cx="3017520" cy="68580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Phase 2 · BLIP, stochastic weights</a:t>
            </a:r>
            <a:endParaRPr lang="en-US" sz="1800" dirty="0"/>
          </a:p>
        </p:txBody>
      </p:sp>
      <p:sp>
        <p:nvSpPr>
          <p:cNvPr id="15" name="phase2-status-chip"/>
          <p:cNvSpPr/>
          <p:nvPr/>
        </p:nvSpPr>
        <p:spPr>
          <a:xfrm>
            <a:off x="4572000" y="3611880"/>
            <a:ext cx="3017520" cy="384048"/>
          </a:xfrm>
          <a:prstGeom prst="roundRect">
            <a:avLst>
              <a:gd name="adj" fmla="val 14286"/>
            </a:avLst>
          </a:prstGeom>
          <a:solidFill>
            <a:schemeClr val="bg1"/>
          </a:solidFill>
          <a:ln w="15875">
            <a:solidFill>
              <a:srgbClr val="D9603C"/>
            </a:solidFill>
            <a:prstDash val="solid"/>
          </a:ln>
        </p:spPr>
      </p:sp>
      <p:sp>
        <p:nvSpPr>
          <p:cNvPr id="16" name="phase2-status"/>
          <p:cNvSpPr txBox="1"/>
          <p:nvPr/>
        </p:nvSpPr>
        <p:spPr>
          <a:xfrm>
            <a:off x="4572000" y="3611880"/>
            <a:ext cx="3017520" cy="384048"/>
          </a:xfrm>
          <a:prstGeom prst="rect">
            <a:avLst/>
          </a:prstGeom>
          <a:noFill/>
          <a:ln/>
        </p:spPr>
        <p:txBody>
          <a:bodyPr wrap="square" lIns="0" tIns="0" rIns="0" bIns="0" rtlCol="0" anchor="ctr"/>
          <a:lstStyle/>
          <a:p>
            <a:pPr algn="ctr" indent="0" marL="0">
              <a:buNone/>
            </a:pPr>
            <a:r>
              <a:rPr lang="en-US" sz="1300" b="1" dirty="0">
                <a:solidFill>
                  <a:srgbClr val="D9603C"/>
                </a:solidFill>
                <a:latin typeface="Calibri" pitchFamily="34" charset="0"/>
                <a:ea typeface="Calibri" pitchFamily="34" charset="-122"/>
                <a:cs typeface="Calibri" pitchFamily="34" charset="-120"/>
              </a:rPr>
              <a:t>Uncertainty not yet useful</a:t>
            </a:r>
            <a:endParaRPr lang="en-US" sz="1300" dirty="0"/>
          </a:p>
        </p:txBody>
      </p:sp>
      <p:sp>
        <p:nvSpPr>
          <p:cNvPr id="17" name="phase2-text"/>
          <p:cNvSpPr txBox="1"/>
          <p:nvPr/>
        </p:nvSpPr>
        <p:spPr>
          <a:xfrm>
            <a:off x="4572000" y="4160520"/>
            <a:ext cx="3017520" cy="12801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Gives a confidence estimate, but it is far too narrow. This week's fix made training stable; we think we know why calibration is still off.</a:t>
            </a:r>
            <a:endParaRPr lang="en-US" sz="1400" dirty="0"/>
          </a:p>
        </p:txBody>
      </p:sp>
      <p:sp>
        <p:nvSpPr>
          <p:cNvPr id="18" name="phase3-card"/>
          <p:cNvSpPr/>
          <p:nvPr/>
        </p:nvSpPr>
        <p:spPr>
          <a:xfrm>
            <a:off x="8046720" y="1783080"/>
            <a:ext cx="3566160" cy="3429000"/>
          </a:xfrm>
          <a:prstGeom prst="roundRect">
            <a:avLst>
              <a:gd name="adj" fmla="val 2133"/>
            </a:avLst>
          </a:prstGeom>
          <a:solidFill>
            <a:schemeClr val="bg2"/>
          </a:solidFill>
          <a:ln/>
        </p:spPr>
      </p:sp>
      <p:sp>
        <p:nvSpPr>
          <p:cNvPr id="19" name="phase3-circle"/>
          <p:cNvSpPr/>
          <p:nvPr/>
        </p:nvSpPr>
        <p:spPr>
          <a:xfrm>
            <a:off x="8321040" y="2057400"/>
            <a:ext cx="640080" cy="640080"/>
          </a:xfrm>
          <a:prstGeom prst="ellipse">
            <a:avLst/>
          </a:prstGeom>
          <a:solidFill>
            <a:schemeClr val="accent1"/>
          </a:solidFill>
          <a:ln/>
        </p:spPr>
      </p:sp>
      <p:sp>
        <p:nvSpPr>
          <p:cNvPr id="20" name="phase3-num"/>
          <p:cNvSpPr txBox="1"/>
          <p:nvPr/>
        </p:nvSpPr>
        <p:spPr>
          <a:xfrm>
            <a:off x="8321040" y="205740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latin typeface="Cambria" pitchFamily="34" charset="0"/>
                <a:ea typeface="Cambria" pitchFamily="34" charset="-122"/>
                <a:cs typeface="Cambria" pitchFamily="34" charset="-120"/>
              </a:rPr>
              <a:t>3</a:t>
            </a:r>
            <a:endParaRPr lang="en-US" sz="2100" dirty="0"/>
          </a:p>
        </p:txBody>
      </p:sp>
      <p:sp>
        <p:nvSpPr>
          <p:cNvPr id="21" name="phase3-name"/>
          <p:cNvSpPr txBox="1"/>
          <p:nvPr/>
        </p:nvSpPr>
        <p:spPr>
          <a:xfrm>
            <a:off x="8321040" y="2880360"/>
            <a:ext cx="3017520" cy="68580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Phase 3 · Graph-space stochasticity</a:t>
            </a:r>
            <a:endParaRPr lang="en-US" sz="1800" dirty="0"/>
          </a:p>
        </p:txBody>
      </p:sp>
      <p:sp>
        <p:nvSpPr>
          <p:cNvPr id="22" name="phase3-status-chip"/>
          <p:cNvSpPr/>
          <p:nvPr/>
        </p:nvSpPr>
        <p:spPr>
          <a:xfrm>
            <a:off x="8321040" y="3611880"/>
            <a:ext cx="3017520" cy="384048"/>
          </a:xfrm>
          <a:prstGeom prst="roundRect">
            <a:avLst>
              <a:gd name="adj" fmla="val 14286"/>
            </a:avLst>
          </a:prstGeom>
          <a:solidFill>
            <a:schemeClr val="bg1"/>
          </a:solidFill>
          <a:ln w="15875">
            <a:solidFill>
              <a:srgbClr val="1F7FB6"/>
            </a:solidFill>
            <a:prstDash val="solid"/>
          </a:ln>
        </p:spPr>
      </p:sp>
      <p:sp>
        <p:nvSpPr>
          <p:cNvPr id="23" name="phase3-status"/>
          <p:cNvSpPr txBox="1"/>
          <p:nvPr/>
        </p:nvSpPr>
        <p:spPr>
          <a:xfrm>
            <a:off x="8321040" y="3611880"/>
            <a:ext cx="3017520" cy="384048"/>
          </a:xfrm>
          <a:prstGeom prst="rect">
            <a:avLst/>
          </a:prstGeom>
          <a:noFill/>
          <a:ln/>
        </p:spPr>
        <p:txBody>
          <a:bodyPr wrap="square" lIns="0" tIns="0" rIns="0" bIns="0" rtlCol="0" anchor="ctr"/>
          <a:lstStyle/>
          <a:p>
            <a:pPr algn="ctr" indent="0" marL="0">
              <a:buNone/>
            </a:pPr>
            <a:r>
              <a:rPr lang="en-US" sz="1300" b="1" dirty="0">
                <a:solidFill>
                  <a:srgbClr val="1F7FB6"/>
                </a:solidFill>
                <a:latin typeface="Calibri" pitchFamily="34" charset="0"/>
                <a:ea typeface="Calibri" pitchFamily="34" charset="-122"/>
                <a:cs typeface="Calibri" pitchFamily="34" charset="-120"/>
              </a:rPr>
              <a:t>Started</a:t>
            </a:r>
            <a:endParaRPr lang="en-US" sz="1300" dirty="0"/>
          </a:p>
        </p:txBody>
      </p:sp>
      <p:sp>
        <p:nvSpPr>
          <p:cNvPr id="24" name="phase3-text"/>
          <p:cNvSpPr txBox="1"/>
          <p:nvPr/>
        </p:nvSpPr>
        <p:spPr>
          <a:xfrm>
            <a:off x="8321040" y="4160520"/>
            <a:ext cx="3017520" cy="12801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novel contribution. First model draft committed on 22 October; it will be scored by the same harness.</a:t>
            </a:r>
            <a:endParaRPr lang="en-US" sz="1400" dirty="0"/>
          </a:p>
        </p:txBody>
      </p:sp>
      <p:sp>
        <p:nvSpPr>
          <p:cNvPr id="25" name="agenda"/>
          <p:cNvSpPr txBox="1"/>
          <p:nvPr/>
        </p:nvSpPr>
        <p:spPr>
          <a:xfrm>
            <a:off x="548640" y="5486400"/>
            <a:ext cx="11064240" cy="365760"/>
          </a:xfrm>
          <a:prstGeom prst="rect">
            <a:avLst/>
          </a:prstGeom>
          <a:noFill/>
          <a:ln/>
        </p:spPr>
        <p:txBody>
          <a:bodyPr wrap="square" lIns="0" tIns="0" rIns="0" bIns="0" rtlCol="0" anchor="t"/>
          <a:lstStyle/>
          <a:p>
            <a:pPr indent="0" marL="0">
              <a:buNone/>
            </a:pPr>
            <a:r>
              <a:rPr lang="en-US" sz="1400" dirty="0">
                <a:solidFill>
                  <a:srgbClr val="5B6B78"/>
                </a:solidFill>
                <a:latin typeface="Calibri" pitchFamily="34" charset="0"/>
                <a:ea typeface="Calibri" pitchFamily="34" charset="-122"/>
                <a:cs typeface="Calibri" pitchFamily="34" charset="-120"/>
              </a:rPr>
              <a:t>Data → Phase 1 bake-off → Phase 2 results → next steps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85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MD17 is clean enough to train on as-is</a:t>
            </a:r>
            <a:endParaRPr lang="en-US" sz="3000" dirty="0"/>
          </a:p>
        </p:txBody>
      </p:sp>
      <p:sp>
        <p:nvSpPr>
          <p:cNvPr id="3" name="Text 0"/>
          <p:cNvSpPr/>
          <p:nvPr>
            <p:ph idx="101" type="body" hasCustomPrompt="1"/>
          </p:nvPr>
        </p:nvSpPr>
        <p:spPr>
          <a:xfrm>
            <a:off x="548640" y="1097280"/>
            <a:ext cx="11064240" cy="411480"/>
          </a:xfrm>
          <a:prstGeom prst="rect">
            <a:avLst/>
          </a:prstGeom>
          <a:noFill/>
          <a:ln/>
        </p:spPr>
        <p:txBody>
          <a:bodyPr wrap="square" lIns="0" tIns="0" rIns="0" bIns="0" rtlCol="0" anchor="t"/>
          <a:lstStyle/>
          <a:p>
            <a:pPr algn="l" indent="0" marL="0">
              <a:buNone/>
            </a:pPr>
            <a:r>
              <a:rPr lang="en-US" sz="1500" i="1" dirty="0">
                <a:solidFill>
                  <a:schemeClr val="accent1"/>
                </a:solidFill>
                <a:latin typeface="Calibri" pitchFamily="34" charset="0"/>
                <a:ea typeface="Calibri" pitchFamily="34" charset="-122"/>
                <a:cs typeface="Calibri" pitchFamily="34" charset="-120"/>
              </a:rPr>
              <a:t>Energy distributions for all nine gold-stage datasets: single-peaked, with no outlier clusters</a:t>
            </a:r>
            <a:endParaRPr lang="en-US" sz="1500" dirty="0"/>
          </a:p>
        </p:txBody>
      </p:sp>
      <p:pic>
        <p:nvPicPr>
          <p:cNvPr id="4" name="Energy histograms, nine MD17 datasets" descr="Energy histograms, nine MD17 datasets">    </p:cNvPr>
          <p:cNvPicPr>
            <a:picLocks noChangeAspect="1"/>
          </p:cNvPicPr>
          <p:nvPr/>
        </p:nvPicPr>
        <p:blipFill>
          <a:blip r:embed="rId1"/>
          <a:stretch>
            <a:fillRect/>
          </a:stretch>
        </p:blipFill>
        <p:spPr>
          <a:xfrm>
            <a:off x="637300" y="1691640"/>
            <a:ext cx="6132041" cy="4572000"/>
          </a:xfrm>
          <a:prstGeom prst="rect">
            <a:avLst/>
          </a:prstGeom>
        </p:spPr>
      </p:pic>
      <p:sp>
        <p:nvSpPr>
          <p:cNvPr id="5" name="eda-stat0"/>
          <p:cNvSpPr txBox="1"/>
          <p:nvPr/>
        </p:nvSpPr>
        <p:spPr>
          <a:xfrm>
            <a:off x="7269480" y="1828800"/>
            <a:ext cx="4389120" cy="68580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9</a:t>
            </a:r>
            <a:endParaRPr lang="en-US" sz="4000" dirty="0"/>
          </a:p>
        </p:txBody>
      </p:sp>
      <p:sp>
        <p:nvSpPr>
          <p:cNvPr id="6" name="eda-stat0-label"/>
          <p:cNvSpPr txBox="1"/>
          <p:nvPr/>
        </p:nvSpPr>
        <p:spPr>
          <a:xfrm>
            <a:off x="7269480" y="2542032"/>
            <a:ext cx="4389120"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datasets: 8 molecules, with ethanol at two levels of theory (DFT and CCSD(T))</a:t>
            </a:r>
            <a:endParaRPr lang="en-US" sz="1400" dirty="0"/>
          </a:p>
        </p:txBody>
      </p:sp>
      <p:sp>
        <p:nvSpPr>
          <p:cNvPr id="7" name="eda-stat1"/>
          <p:cNvSpPr txBox="1"/>
          <p:nvPr/>
        </p:nvSpPr>
        <p:spPr>
          <a:xfrm>
            <a:off x="7269480" y="3291840"/>
            <a:ext cx="4389120" cy="68580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555,092</a:t>
            </a:r>
            <a:endParaRPr lang="en-US" sz="4000" dirty="0"/>
          </a:p>
        </p:txBody>
      </p:sp>
      <p:sp>
        <p:nvSpPr>
          <p:cNvPr id="8" name="eda-stat1-label"/>
          <p:cNvSpPr txBox="1"/>
          <p:nvPr/>
        </p:nvSpPr>
        <p:spPr>
          <a:xfrm>
            <a:off x="7269480" y="4005072"/>
            <a:ext cx="4389120"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ethanol DFT frames, the dataset every model in this deck is trained and tested on</a:t>
            </a:r>
            <a:endParaRPr lang="en-US" sz="1400" dirty="0"/>
          </a:p>
        </p:txBody>
      </p:sp>
      <p:sp>
        <p:nvSpPr>
          <p:cNvPr id="9" name="eda-stat2"/>
          <p:cNvSpPr txBox="1"/>
          <p:nvPr/>
        </p:nvSpPr>
        <p:spPr>
          <a:xfrm>
            <a:off x="7269480" y="4754880"/>
            <a:ext cx="4389120" cy="68580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0</a:t>
            </a:r>
            <a:endParaRPr lang="en-US" sz="4000" dirty="0"/>
          </a:p>
        </p:txBody>
      </p:sp>
      <p:sp>
        <p:nvSpPr>
          <p:cNvPr id="10" name="eda-stat2-label"/>
          <p:cNvSpPr txBox="1"/>
          <p:nvPr/>
        </p:nvSpPr>
        <p:spPr>
          <a:xfrm>
            <a:off x="7269480" y="5468112"/>
            <a:ext cx="4389120"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anomalies beyond what the pipeline's own NaN, shape and unit checks already catch; forces look the same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85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Train, validation and test are separate stretches of the trajectory</a:t>
            </a:r>
            <a:endParaRPr lang="en-US" sz="3000" dirty="0"/>
          </a:p>
        </p:txBody>
      </p:sp>
      <p:sp>
        <p:nvSpPr>
          <p:cNvPr id="3" name="Text 0"/>
          <p:cNvSpPr/>
          <p:nvPr>
            <p:ph idx="101" type="body" hasCustomPrompt="1"/>
          </p:nvPr>
        </p:nvSpPr>
        <p:spPr>
          <a:xfrm>
            <a:off x="548640" y="1097280"/>
            <a:ext cx="11064240" cy="411480"/>
          </a:xfrm>
          <a:prstGeom prst="rect">
            <a:avLst/>
          </a:prstGeom>
          <a:noFill/>
          <a:ln/>
        </p:spPr>
        <p:txBody>
          <a:bodyPr wrap="square" lIns="0" tIns="0" rIns="0" bIns="0" rtlCol="0" anchor="t"/>
          <a:lstStyle/>
          <a:p>
            <a:pPr algn="l" indent="0" marL="0">
              <a:buNone/>
            </a:pPr>
            <a:r>
              <a:rPr lang="en-US" sz="1500" i="1" dirty="0">
                <a:solidFill>
                  <a:schemeClr val="accent1"/>
                </a:solidFill>
                <a:latin typeface="Calibri" pitchFamily="34" charset="0"/>
                <a:ea typeface="Calibri" pitchFamily="34" charset="-122"/>
                <a:cs typeface="Calibri" pitchFamily="34" charset="-120"/>
              </a:rPr>
              <a:t>Neighbouring MD frames are near-duplicates, so a random split would leak copies of training data into the test set</a:t>
            </a:r>
            <a:endParaRPr lang="en-US" sz="1500" dirty="0"/>
          </a:p>
        </p:txBody>
      </p:sp>
      <p:pic>
        <p:nvPicPr>
          <p:cNvPr id="4" name="Energy vs trajectory position coloured by split" descr="Energy vs trajectory position coloured by split">    </p:cNvPr>
          <p:cNvPicPr>
            <a:picLocks noChangeAspect="1"/>
          </p:cNvPicPr>
          <p:nvPr/>
        </p:nvPicPr>
        <p:blipFill>
          <a:blip r:embed="rId1"/>
          <a:stretch>
            <a:fillRect/>
          </a:stretch>
        </p:blipFill>
        <p:spPr>
          <a:xfrm>
            <a:off x="744558" y="1691640"/>
            <a:ext cx="10672404" cy="3886200"/>
          </a:xfrm>
          <a:prstGeom prst="rect">
            <a:avLst/>
          </a:prstGeom>
        </p:spPr>
      </p:pic>
      <p:sp>
        <p:nvSpPr>
          <p:cNvPr id="5" name="split-dot0"/>
          <p:cNvSpPr/>
          <p:nvPr/>
        </p:nvSpPr>
        <p:spPr>
          <a:xfrm>
            <a:off x="548640" y="5806440"/>
            <a:ext cx="201168" cy="201168"/>
          </a:xfrm>
          <a:prstGeom prst="ellipse">
            <a:avLst/>
          </a:prstGeom>
          <a:solidFill>
            <a:srgbClr val="2B7BD8"/>
          </a:solidFill>
          <a:ln/>
        </p:spPr>
      </p:sp>
      <p:sp>
        <p:nvSpPr>
          <p:cNvPr id="6" name="split-label0"/>
          <p:cNvSpPr txBox="1"/>
          <p:nvPr/>
        </p:nvSpPr>
        <p:spPr>
          <a:xfrm>
            <a:off x="841248" y="5733288"/>
            <a:ext cx="2468880" cy="36576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Train · 444,074 frames</a:t>
            </a:r>
            <a:endParaRPr lang="en-US" sz="1400" dirty="0"/>
          </a:p>
        </p:txBody>
      </p:sp>
      <p:sp>
        <p:nvSpPr>
          <p:cNvPr id="7" name="split-dot1"/>
          <p:cNvSpPr/>
          <p:nvPr/>
        </p:nvSpPr>
        <p:spPr>
          <a:xfrm>
            <a:off x="3383280" y="5806440"/>
            <a:ext cx="201168" cy="201168"/>
          </a:xfrm>
          <a:prstGeom prst="ellipse">
            <a:avLst/>
          </a:prstGeom>
          <a:solidFill>
            <a:srgbClr val="EE6A3A"/>
          </a:solidFill>
          <a:ln/>
        </p:spPr>
      </p:sp>
      <p:sp>
        <p:nvSpPr>
          <p:cNvPr id="8" name="split-label1"/>
          <p:cNvSpPr txBox="1"/>
          <p:nvPr/>
        </p:nvSpPr>
        <p:spPr>
          <a:xfrm>
            <a:off x="3675888" y="5733288"/>
            <a:ext cx="2468880" cy="36576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Validation · 55,509</a:t>
            </a:r>
            <a:endParaRPr lang="en-US" sz="1400" dirty="0"/>
          </a:p>
        </p:txBody>
      </p:sp>
      <p:sp>
        <p:nvSpPr>
          <p:cNvPr id="9" name="split-dot2"/>
          <p:cNvSpPr/>
          <p:nvPr/>
        </p:nvSpPr>
        <p:spPr>
          <a:xfrm>
            <a:off x="6217920" y="5806440"/>
            <a:ext cx="201168" cy="201168"/>
          </a:xfrm>
          <a:prstGeom prst="ellipse">
            <a:avLst/>
          </a:prstGeom>
          <a:solidFill>
            <a:srgbClr val="22B07D"/>
          </a:solidFill>
          <a:ln/>
        </p:spPr>
      </p:sp>
      <p:sp>
        <p:nvSpPr>
          <p:cNvPr id="10" name="split-label2"/>
          <p:cNvSpPr txBox="1"/>
          <p:nvPr/>
        </p:nvSpPr>
        <p:spPr>
          <a:xfrm>
            <a:off x="6510528" y="5733288"/>
            <a:ext cx="2468880" cy="36576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Test · 55,509</a:t>
            </a:r>
            <a:endParaRPr lang="en-US" sz="1400" dirty="0"/>
          </a:p>
        </p:txBody>
      </p:sp>
      <p:sp>
        <p:nvSpPr>
          <p:cNvPr id="11" name="split-note"/>
          <p:cNvSpPr txBox="1"/>
          <p:nvPr/>
        </p:nvSpPr>
        <p:spPr>
          <a:xfrm>
            <a:off x="8778240" y="5733288"/>
            <a:ext cx="2834640" cy="365760"/>
          </a:xfrm>
          <a:prstGeom prst="rect">
            <a:avLst/>
          </a:prstGeom>
          <a:noFill/>
          <a:ln/>
        </p:spPr>
        <p:txBody>
          <a:bodyPr wrap="square" lIns="0" tIns="0" rIns="0" bIns="0" rtlCol="0" anchor="ctr"/>
          <a:lstStyle/>
          <a:p>
            <a:pPr indent="0" marL="0">
              <a:buNone/>
            </a:pPr>
            <a:r>
              <a:rPr lang="en-US" sz="1300" dirty="0">
                <a:solidFill>
                  <a:srgbClr val="5B6B78"/>
                </a:solidFill>
                <a:latin typeface="Calibri" pitchFamily="34" charset="0"/>
                <a:ea typeface="Calibri" pitchFamily="34" charset="-122"/>
                <a:cs typeface="Calibri" pitchFamily="34" charset="-120"/>
              </a:rPr>
              <a:t>No interleaving: the test block is never seen in training</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85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5 Å cutoff links every atom pair in small molecules</a:t>
            </a:r>
            <a:endParaRPr lang="en-US" sz="3000" dirty="0"/>
          </a:p>
        </p:txBody>
      </p:sp>
      <p:sp>
        <p:nvSpPr>
          <p:cNvPr id="3" name="Text 0"/>
          <p:cNvSpPr/>
          <p:nvPr>
            <p:ph idx="101" type="body" hasCustomPrompt="1"/>
          </p:nvPr>
        </p:nvSpPr>
        <p:spPr>
          <a:xfrm>
            <a:off x="548640" y="1097280"/>
            <a:ext cx="11064240" cy="411480"/>
          </a:xfrm>
          <a:prstGeom prst="rect">
            <a:avLst/>
          </a:prstGeom>
          <a:noFill/>
          <a:ln/>
        </p:spPr>
        <p:txBody>
          <a:bodyPr wrap="square" lIns="0" tIns="0" rIns="0" bIns="0" rtlCol="0" anchor="t"/>
          <a:lstStyle/>
          <a:p>
            <a:pPr algn="l" indent="0" marL="0">
              <a:buNone/>
            </a:pPr>
            <a:r>
              <a:rPr lang="en-US" sz="1500" i="1" dirty="0">
                <a:solidFill>
                  <a:schemeClr val="accent1"/>
                </a:solidFill>
                <a:latin typeface="Calibri" pitchFamily="34" charset="0"/>
                <a:ea typeface="Calibri" pitchFamily="34" charset="-122"/>
                <a:cs typeface="Calibri" pitchFamily="34" charset="-120"/>
              </a:rPr>
              <a:t>For 9-atom ethanol the neighbour graph is complete; the cutoff only starts pruning at around 20 atoms</a:t>
            </a:r>
            <a:endParaRPr lang="en-US" sz="1500" dirty="0"/>
          </a:p>
        </p:txBody>
      </p:sp>
      <p:pic>
        <p:nvPicPr>
          <p:cNvPr id="4" name="Interatomic distances vs the 5 Å cutoff" descr="Interatomic distances vs the 5 Å cutoff">    </p:cNvPr>
          <p:cNvPicPr>
            <a:picLocks noChangeAspect="1"/>
          </p:cNvPicPr>
          <p:nvPr/>
        </p:nvPicPr>
        <p:blipFill>
          <a:blip r:embed="rId1"/>
          <a:stretch>
            <a:fillRect/>
          </a:stretch>
        </p:blipFill>
        <p:spPr>
          <a:xfrm>
            <a:off x="548640" y="1712258"/>
            <a:ext cx="7406640" cy="2701964"/>
          </a:xfrm>
          <a:prstGeom prst="rect">
            <a:avLst/>
          </a:prstGeom>
        </p:spPr>
      </p:pic>
      <p:graphicFrame>
        <p:nvGraphicFramePr>
          <p:cNvPr id="6" name="cutoff-table"/>
          <p:cNvGraphicFramePr>
            <a:graphicFrameLocks noGrp="1"/>
          </p:cNvGraphicFramePr>
          <p:nvPr>
            <p:extLst>
              <p:ext uri="{D42A27DB-BD31-4B8C-83A1-F6EECF244321}">
                <p14:modId xmlns:p14="http://schemas.microsoft.com/office/powerpoint/2010/main" val="1579011935"/>
              </p:ext>
            </p:extLst>
          </p:nvPr>
        </p:nvGraphicFramePr>
        <p:xfrm>
          <a:off x="8229600" y="1783080"/>
          <a:ext cx="3383280" cy="914400"/>
        </p:xfrm>
        <a:graphic>
          <a:graphicData uri="http://schemas.openxmlformats.org/drawingml/2006/table">
            <a:tbl>
              <a:tblPr/>
              <a:tblGrid>
                <a:gridCol w="1463040"/>
                <a:gridCol w="822960"/>
                <a:gridCol w="1097280"/>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Molecule</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D1B2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Atoms</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D1B2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Pairs ≤ 5 Å</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D1B2A"/>
                    </a:solidFill>
                  </a:tcPr>
                </a:tc>
              </a:tr>
              <a:tr h="384048">
                <a:tc>
                  <a:txBody>
                    <a:bodyPr/>
                    <a:lstStyle/>
                    <a:p>
                      <a:pPr algn="l" indent="0" marL="0">
                        <a:buNone/>
                      </a:pPr>
                      <a:r>
                        <a:rPr lang="en-US" sz="1300" dirty="0">
                          <a:solidFill>
                            <a:srgbClr val="0D1B2A"/>
                          </a:solidFill>
                          <a:latin typeface="Calibri" pitchFamily="34" charset="0"/>
                          <a:ea typeface="Calibri" pitchFamily="34" charset="-122"/>
                          <a:cs typeface="Calibri" pitchFamily="34" charset="-120"/>
                        </a:rPr>
                        <a:t>Ethanol</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l" indent="0" marL="0">
                        <a:buNone/>
                      </a:pPr>
                      <a:r>
                        <a:rPr lang="en-US" sz="1300" dirty="0">
                          <a:solidFill>
                            <a:srgbClr val="0D1B2A"/>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l" indent="0" marL="0">
                        <a:buNone/>
                      </a:pPr>
                      <a:r>
                        <a:rPr lang="en-US" sz="1300" dirty="0">
                          <a:solidFill>
                            <a:srgbClr val="0D1B2A"/>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r>
              <a:tr h="384048">
                <a:tc>
                  <a:txBody>
                    <a:bodyPr/>
                    <a:lstStyle/>
                    <a:p>
                      <a:pPr algn="l" indent="0" marL="0">
                        <a:buNone/>
                      </a:pPr>
                      <a:r>
                        <a:rPr lang="en-US" sz="1300" dirty="0">
                          <a:solidFill>
                            <a:srgbClr val="0D1B2A"/>
                          </a:solidFill>
                          <a:latin typeface="Calibri" pitchFamily="34" charset="0"/>
                          <a:ea typeface="Calibri" pitchFamily="34" charset="-122"/>
                          <a:cs typeface="Calibri" pitchFamily="34" charset="-120"/>
                        </a:rPr>
                        <a:t>Benzene</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l" indent="0" marL="0">
                        <a:buNone/>
                      </a:pPr>
                      <a:r>
                        <a:rPr lang="en-US" sz="1300" dirty="0">
                          <a:solidFill>
                            <a:srgbClr val="0D1B2A"/>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l" indent="0" marL="0">
                        <a:buNone/>
                      </a:pPr>
                      <a:r>
                        <a:rPr lang="en-US" sz="1300" dirty="0">
                          <a:solidFill>
                            <a:srgbClr val="0D1B2A"/>
                          </a:solidFill>
                          <a:latin typeface="Calibri" pitchFamily="34" charset="0"/>
                          <a:ea typeface="Calibri" pitchFamily="34" charset="-122"/>
                          <a:cs typeface="Calibri" pitchFamily="34" charset="-120"/>
                        </a:rPr>
                        <a:t>98%</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r>
              <a:tr h="384048">
                <a:tc>
                  <a:txBody>
                    <a:bodyPr/>
                    <a:lstStyle/>
                    <a:p>
                      <a:pPr algn="l" indent="0" marL="0">
                        <a:buNone/>
                      </a:pPr>
                      <a:r>
                        <a:rPr lang="en-US" sz="1300" dirty="0">
                          <a:solidFill>
                            <a:srgbClr val="0D1B2A"/>
                          </a:solidFill>
                          <a:latin typeface="Calibri" pitchFamily="34" charset="0"/>
                          <a:ea typeface="Calibri" pitchFamily="34" charset="-122"/>
                          <a:cs typeface="Calibri" pitchFamily="34" charset="-120"/>
                        </a:rPr>
                        <a:t>Toluene</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l" indent="0" marL="0">
                        <a:buNone/>
                      </a:pPr>
                      <a:r>
                        <a:rPr lang="en-US" sz="1300" dirty="0">
                          <a:solidFill>
                            <a:srgbClr val="0D1B2A"/>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l" indent="0" marL="0">
                        <a:buNone/>
                      </a:pPr>
                      <a:r>
                        <a:rPr lang="en-US" sz="1300" dirty="0">
                          <a:solidFill>
                            <a:srgbClr val="0D1B2A"/>
                          </a:solidFill>
                          <a:latin typeface="Calibri" pitchFamily="34" charset="0"/>
                          <a:ea typeface="Calibri" pitchFamily="34" charset="-122"/>
                          <a:cs typeface="Calibri" pitchFamily="34" charset="-120"/>
                        </a:rPr>
                        <a:t>92%</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r>
              <a:tr h="384048">
                <a:tc>
                  <a:txBody>
                    <a:bodyPr/>
                    <a:lstStyle/>
                    <a:p>
                      <a:pPr algn="l" indent="0" marL="0">
                        <a:buNone/>
                      </a:pPr>
                      <a:r>
                        <a:rPr lang="en-US" sz="1300" dirty="0">
                          <a:solidFill>
                            <a:srgbClr val="0D1B2A"/>
                          </a:solidFill>
                          <a:latin typeface="Calibri" pitchFamily="34" charset="0"/>
                          <a:ea typeface="Calibri" pitchFamily="34" charset="-122"/>
                          <a:cs typeface="Calibri" pitchFamily="34" charset="-120"/>
                        </a:rPr>
                        <a:t>Paracetamol</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l" indent="0" marL="0">
                        <a:buNone/>
                      </a:pPr>
                      <a:r>
                        <a:rPr lang="en-US" sz="1300" dirty="0">
                          <a:solidFill>
                            <a:srgbClr val="0D1B2A"/>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l" indent="0" marL="0">
                        <a:buNone/>
                      </a:pPr>
                      <a:r>
                        <a:rPr lang="en-US" sz="1300" dirty="0">
                          <a:solidFill>
                            <a:srgbClr val="0D1B2A"/>
                          </a:solidFill>
                          <a:latin typeface="Calibri" pitchFamily="34" charset="0"/>
                          <a:ea typeface="Calibri" pitchFamily="34" charset="-122"/>
                          <a:cs typeface="Calibri" pitchFamily="34" charset="-120"/>
                        </a:rPr>
                        <a:t>73%</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r>
              <a:tr h="384048">
                <a:tc>
                  <a:txBody>
                    <a:bodyPr/>
                    <a:lstStyle/>
                    <a:p>
                      <a:pPr algn="l" indent="0" marL="0">
                        <a:buNone/>
                      </a:pPr>
                      <a:r>
                        <a:rPr lang="en-US" sz="1300" dirty="0">
                          <a:solidFill>
                            <a:srgbClr val="0D1B2A"/>
                          </a:solidFill>
                          <a:latin typeface="Calibri" pitchFamily="34" charset="0"/>
                          <a:ea typeface="Calibri" pitchFamily="34" charset="-122"/>
                          <a:cs typeface="Calibri" pitchFamily="34" charset="-120"/>
                        </a:rPr>
                        <a:t>Azobenzene</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l" indent="0" marL="0">
                        <a:buNone/>
                      </a:pPr>
                      <a:r>
                        <a:rPr lang="en-US" sz="1300" dirty="0">
                          <a:solidFill>
                            <a:srgbClr val="0D1B2A"/>
                          </a:solidFill>
                          <a:latin typeface="Calibri" pitchFamily="34" charset="0"/>
                          <a:ea typeface="Calibri" pitchFamily="34" charset="-122"/>
                          <a:cs typeface="Calibri" pitchFamily="34" charset="-120"/>
                        </a:rPr>
                        <a:t>24</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l" indent="0" marL="0">
                        <a:buNone/>
                      </a:pPr>
                      <a:r>
                        <a:rPr lang="en-US" sz="1300" dirty="0">
                          <a:solidFill>
                            <a:srgbClr val="0D1B2A"/>
                          </a:solidFill>
                          <a:latin typeface="Calibri" pitchFamily="34" charset="0"/>
                          <a:ea typeface="Calibri" pitchFamily="34" charset="-122"/>
                          <a:cs typeface="Calibri" pitchFamily="34" charset="-120"/>
                        </a:rPr>
                        <a:t>59%</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r>
            </a:tbl>
          </a:graphicData>
        </a:graphic>
      </p:graphicFrame>
      <p:sp>
        <p:nvSpPr>
          <p:cNvPr id="6" name="cutoff-panel"/>
          <p:cNvSpPr/>
          <p:nvPr/>
        </p:nvSpPr>
        <p:spPr>
          <a:xfrm>
            <a:off x="548640" y="4754880"/>
            <a:ext cx="11064240" cy="1325880"/>
          </a:xfrm>
          <a:prstGeom prst="roundRect">
            <a:avLst>
              <a:gd name="adj" fmla="val 5517"/>
            </a:avLst>
          </a:prstGeom>
          <a:solidFill>
            <a:schemeClr val="bg2"/>
          </a:solidFill>
          <a:ln/>
        </p:spPr>
      </p:sp>
      <p:sp>
        <p:nvSpPr>
          <p:cNvPr id="7" name="cutoff-why"/>
          <p:cNvSpPr txBox="1"/>
          <p:nvPr/>
        </p:nvSpPr>
        <p:spPr>
          <a:xfrm>
            <a:off x="822960" y="4892040"/>
            <a:ext cx="10515600" cy="105156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Why it matters: </a:t>
            </a:r>
            <a:pPr indent="0" marL="0">
              <a:buNone/>
            </a:pPr>
            <a:r>
              <a:rPr lang="en-US" sz="1400" dirty="0">
                <a:solidFill>
                  <a:schemeClr val="tx1"/>
                </a:solidFill>
                <a:latin typeface="Calibri" pitchFamily="34" charset="0"/>
                <a:ea typeface="Calibri" pitchFamily="34" charset="-122"/>
                <a:cs typeface="Calibri" pitchFamily="34" charset="-120"/>
              </a:rPr>
              <a:t>MD22 systems reach 370 atoms. The same 5 Å default would prune those graphs heavily, possibly into disconnected pieces, so the cutoff has to be chosen deliberately before any model is trained on MD22.</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85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Five architectures, one locked protocol</a:t>
            </a:r>
            <a:endParaRPr lang="en-US" sz="3000" dirty="0"/>
          </a:p>
        </p:txBody>
      </p:sp>
      <p:sp>
        <p:nvSpPr>
          <p:cNvPr id="3" name="Text 0"/>
          <p:cNvSpPr/>
          <p:nvPr>
            <p:ph idx="101" type="body" hasCustomPrompt="1"/>
          </p:nvPr>
        </p:nvSpPr>
        <p:spPr>
          <a:xfrm>
            <a:off x="548640" y="1097280"/>
            <a:ext cx="11064240" cy="411480"/>
          </a:xfrm>
          <a:prstGeom prst="rect">
            <a:avLst/>
          </a:prstGeom>
          <a:noFill/>
          <a:ln/>
        </p:spPr>
        <p:txBody>
          <a:bodyPr wrap="square" lIns="0" tIns="0" rIns="0" bIns="0" rtlCol="0" anchor="t"/>
          <a:lstStyle/>
          <a:p>
            <a:pPr algn="l" indent="0" marL="0">
              <a:buNone/>
            </a:pPr>
            <a:r>
              <a:rPr lang="en-US" sz="1500" i="1" dirty="0">
                <a:solidFill>
                  <a:schemeClr val="accent1"/>
                </a:solidFill>
                <a:latin typeface="Calibri" pitchFamily="34" charset="0"/>
                <a:ea typeface="Calibri" pitchFamily="34" charset="-122"/>
                <a:cs typeface="Calibri" pitchFamily="34" charset="-120"/>
              </a:rPr>
              <a:t>Only each model's own architecture differs; the benchmark refuses any run that breaks the shared settings</a:t>
            </a:r>
            <a:endParaRPr lang="en-US" sz="1500" dirty="0"/>
          </a:p>
        </p:txBody>
      </p:sp>
      <p:sp>
        <p:nvSpPr>
          <p:cNvPr id="4" name="model-MPNN"/>
          <p:cNvSpPr/>
          <p:nvPr/>
        </p:nvSpPr>
        <p:spPr>
          <a:xfrm>
            <a:off x="548640" y="1737360"/>
            <a:ext cx="2066544" cy="777240"/>
          </a:xfrm>
          <a:prstGeom prst="roundRect">
            <a:avLst>
              <a:gd name="adj" fmla="val 9412"/>
            </a:avLst>
          </a:prstGeom>
          <a:solidFill>
            <a:schemeClr val="tx1"/>
          </a:solidFill>
          <a:ln/>
        </p:spPr>
      </p:sp>
      <p:sp>
        <p:nvSpPr>
          <p:cNvPr id="5" name="model-MPNN-label"/>
          <p:cNvSpPr txBox="1"/>
          <p:nvPr/>
        </p:nvSpPr>
        <p:spPr>
          <a:xfrm>
            <a:off x="548640" y="1737360"/>
            <a:ext cx="2066544" cy="7772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MPNN</a:t>
            </a:r>
            <a:endParaRPr lang="en-US" sz="1600" dirty="0"/>
          </a:p>
          <a:p>
            <a:pPr algn="ctr" indent="0" marL="0">
              <a:buNone/>
            </a:pPr>
            <a:r>
              <a:rPr lang="en-US" sz="1200" dirty="0">
                <a:solidFill>
                  <a:srgbClr val="5FA8D3"/>
                </a:solidFill>
                <a:latin typeface="Calibri" pitchFamily="34" charset="0"/>
                <a:ea typeface="Calibri" pitchFamily="34" charset="-122"/>
                <a:cs typeface="Calibri" pitchFamily="34" charset="-120"/>
              </a:rPr>
              <a:t>385k parameters</a:t>
            </a:r>
            <a:endParaRPr lang="en-US" sz="1600" dirty="0"/>
          </a:p>
        </p:txBody>
      </p:sp>
      <p:sp>
        <p:nvSpPr>
          <p:cNvPr id="6" name="model-SchNet"/>
          <p:cNvSpPr/>
          <p:nvPr/>
        </p:nvSpPr>
        <p:spPr>
          <a:xfrm>
            <a:off x="2798064" y="1737360"/>
            <a:ext cx="2066544" cy="777240"/>
          </a:xfrm>
          <a:prstGeom prst="roundRect">
            <a:avLst>
              <a:gd name="adj" fmla="val 9412"/>
            </a:avLst>
          </a:prstGeom>
          <a:solidFill>
            <a:schemeClr val="tx1"/>
          </a:solidFill>
          <a:ln/>
        </p:spPr>
      </p:sp>
      <p:sp>
        <p:nvSpPr>
          <p:cNvPr id="7" name="model-SchNet-label"/>
          <p:cNvSpPr txBox="1"/>
          <p:nvPr/>
        </p:nvSpPr>
        <p:spPr>
          <a:xfrm>
            <a:off x="2798064" y="1737360"/>
            <a:ext cx="2066544" cy="7772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SchNet</a:t>
            </a:r>
            <a:endParaRPr lang="en-US" sz="1600" dirty="0"/>
          </a:p>
          <a:p>
            <a:pPr algn="ctr" indent="0" marL="0">
              <a:buNone/>
            </a:pPr>
            <a:r>
              <a:rPr lang="en-US" sz="1200" dirty="0">
                <a:solidFill>
                  <a:srgbClr val="5FA8D3"/>
                </a:solidFill>
                <a:latin typeface="Calibri" pitchFamily="34" charset="0"/>
                <a:ea typeface="Calibri" pitchFamily="34" charset="-122"/>
                <a:cs typeface="Calibri" pitchFamily="34" charset="-120"/>
              </a:rPr>
              <a:t>62k parameters</a:t>
            </a:r>
            <a:endParaRPr lang="en-US" sz="1600" dirty="0"/>
          </a:p>
        </p:txBody>
      </p:sp>
      <p:sp>
        <p:nvSpPr>
          <p:cNvPr id="8" name="model-PaiNN"/>
          <p:cNvSpPr/>
          <p:nvPr/>
        </p:nvSpPr>
        <p:spPr>
          <a:xfrm>
            <a:off x="5047488" y="1737360"/>
            <a:ext cx="2066544" cy="777240"/>
          </a:xfrm>
          <a:prstGeom prst="roundRect">
            <a:avLst>
              <a:gd name="adj" fmla="val 9412"/>
            </a:avLst>
          </a:prstGeom>
          <a:solidFill>
            <a:schemeClr val="tx1"/>
          </a:solidFill>
          <a:ln/>
        </p:spPr>
      </p:sp>
      <p:sp>
        <p:nvSpPr>
          <p:cNvPr id="9" name="model-PaiNN-label"/>
          <p:cNvSpPr txBox="1"/>
          <p:nvPr/>
        </p:nvSpPr>
        <p:spPr>
          <a:xfrm>
            <a:off x="5047488" y="1737360"/>
            <a:ext cx="2066544" cy="7772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PaiNN</a:t>
            </a:r>
            <a:endParaRPr lang="en-US" sz="1600" dirty="0"/>
          </a:p>
          <a:p>
            <a:pPr algn="ctr" indent="0" marL="0">
              <a:buNone/>
            </a:pPr>
            <a:r>
              <a:rPr lang="en-US" sz="1200" dirty="0">
                <a:solidFill>
                  <a:srgbClr val="5FA8D3"/>
                </a:solidFill>
                <a:latin typeface="Calibri" pitchFamily="34" charset="0"/>
                <a:ea typeface="Calibri" pitchFamily="34" charset="-122"/>
                <a:cs typeface="Calibri" pitchFamily="34" charset="-120"/>
              </a:rPr>
              <a:t>588k parameters</a:t>
            </a:r>
            <a:endParaRPr lang="en-US" sz="1600" dirty="0"/>
          </a:p>
        </p:txBody>
      </p:sp>
      <p:sp>
        <p:nvSpPr>
          <p:cNvPr id="10" name="model-PhysNet"/>
          <p:cNvSpPr/>
          <p:nvPr/>
        </p:nvSpPr>
        <p:spPr>
          <a:xfrm>
            <a:off x="7296912" y="1737360"/>
            <a:ext cx="2066544" cy="777240"/>
          </a:xfrm>
          <a:prstGeom prst="roundRect">
            <a:avLst>
              <a:gd name="adj" fmla="val 9412"/>
            </a:avLst>
          </a:prstGeom>
          <a:solidFill>
            <a:schemeClr val="tx1"/>
          </a:solidFill>
          <a:ln/>
        </p:spPr>
      </p:sp>
      <p:sp>
        <p:nvSpPr>
          <p:cNvPr id="11" name="model-PhysNet-label"/>
          <p:cNvSpPr txBox="1"/>
          <p:nvPr/>
        </p:nvSpPr>
        <p:spPr>
          <a:xfrm>
            <a:off x="7296912" y="1737360"/>
            <a:ext cx="2066544" cy="7772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PhysNet</a:t>
            </a:r>
            <a:endParaRPr lang="en-US" sz="1600" dirty="0"/>
          </a:p>
          <a:p>
            <a:pPr algn="ctr" indent="0" marL="0">
              <a:buNone/>
            </a:pPr>
            <a:r>
              <a:rPr lang="en-US" sz="1200" dirty="0">
                <a:solidFill>
                  <a:srgbClr val="5FA8D3"/>
                </a:solidFill>
                <a:latin typeface="Calibri" pitchFamily="34" charset="0"/>
                <a:ea typeface="Calibri" pitchFamily="34" charset="-122"/>
                <a:cs typeface="Calibri" pitchFamily="34" charset="-120"/>
              </a:rPr>
              <a:t>809k parameters</a:t>
            </a:r>
            <a:endParaRPr lang="en-US" sz="1600" dirty="0"/>
          </a:p>
        </p:txBody>
      </p:sp>
      <p:sp>
        <p:nvSpPr>
          <p:cNvPr id="12" name="model-DimeNet++"/>
          <p:cNvSpPr/>
          <p:nvPr/>
        </p:nvSpPr>
        <p:spPr>
          <a:xfrm>
            <a:off x="9546336" y="1737360"/>
            <a:ext cx="2066544" cy="777240"/>
          </a:xfrm>
          <a:prstGeom prst="roundRect">
            <a:avLst>
              <a:gd name="adj" fmla="val 9412"/>
            </a:avLst>
          </a:prstGeom>
          <a:solidFill>
            <a:schemeClr val="tx1"/>
          </a:solidFill>
          <a:ln/>
        </p:spPr>
      </p:sp>
      <p:sp>
        <p:nvSpPr>
          <p:cNvPr id="13" name="model-DimeNet++-label"/>
          <p:cNvSpPr txBox="1"/>
          <p:nvPr/>
        </p:nvSpPr>
        <p:spPr>
          <a:xfrm>
            <a:off x="9546336" y="1737360"/>
            <a:ext cx="2066544" cy="7772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DimeNet++</a:t>
            </a:r>
            <a:endParaRPr lang="en-US" sz="1600" dirty="0"/>
          </a:p>
          <a:p>
            <a:pPr algn="ctr" indent="0" marL="0">
              <a:buNone/>
            </a:pPr>
            <a:r>
              <a:rPr lang="en-US" sz="1200" dirty="0">
                <a:solidFill>
                  <a:srgbClr val="5FA8D3"/>
                </a:solidFill>
                <a:latin typeface="Calibri" pitchFamily="34" charset="0"/>
                <a:ea typeface="Calibri" pitchFamily="34" charset="-122"/>
                <a:cs typeface="Calibri" pitchFamily="34" charset="-120"/>
              </a:rPr>
              <a:t>279k parameters</a:t>
            </a:r>
            <a:endParaRPr lang="en-US" sz="1600" dirty="0"/>
          </a:p>
        </p:txBody>
      </p:sp>
      <p:sp>
        <p:nvSpPr>
          <p:cNvPr id="14" name="rule0-card"/>
          <p:cNvSpPr/>
          <p:nvPr/>
        </p:nvSpPr>
        <p:spPr>
          <a:xfrm>
            <a:off x="548640" y="2834640"/>
            <a:ext cx="3566160" cy="1463040"/>
          </a:xfrm>
          <a:prstGeom prst="roundRect">
            <a:avLst>
              <a:gd name="adj" fmla="val 5000"/>
            </a:avLst>
          </a:prstGeom>
          <a:solidFill>
            <a:schemeClr val="bg2"/>
          </a:solidFill>
          <a:ln/>
        </p:spPr>
      </p:sp>
      <p:sp>
        <p:nvSpPr>
          <p:cNvPr id="15" name="rule0-title"/>
          <p:cNvSpPr txBox="1"/>
          <p:nvPr/>
        </p:nvSpPr>
        <p:spPr>
          <a:xfrm>
            <a:off x="777240" y="3017520"/>
            <a:ext cx="310896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Same data</a:t>
            </a:r>
            <a:endParaRPr lang="en-US" sz="1600" dirty="0"/>
          </a:p>
        </p:txBody>
      </p:sp>
      <p:sp>
        <p:nvSpPr>
          <p:cNvPr id="16" name="rule0-text"/>
          <p:cNvSpPr txBox="1"/>
          <p:nvPr/>
        </p:nvSpPr>
        <p:spPr>
          <a:xfrm>
            <a:off x="777240" y="3429000"/>
            <a:ext cx="310896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Ethanol DFT; the same fixed 10,000 training and 5,000 validation frames for every model</a:t>
            </a:r>
            <a:endParaRPr lang="en-US" sz="1400" dirty="0"/>
          </a:p>
        </p:txBody>
      </p:sp>
      <p:sp>
        <p:nvSpPr>
          <p:cNvPr id="17" name="rule1-card"/>
          <p:cNvSpPr/>
          <p:nvPr/>
        </p:nvSpPr>
        <p:spPr>
          <a:xfrm>
            <a:off x="4297680" y="2834640"/>
            <a:ext cx="3566160" cy="1463040"/>
          </a:xfrm>
          <a:prstGeom prst="roundRect">
            <a:avLst>
              <a:gd name="adj" fmla="val 5000"/>
            </a:avLst>
          </a:prstGeom>
          <a:solidFill>
            <a:schemeClr val="bg2"/>
          </a:solidFill>
          <a:ln/>
        </p:spPr>
      </p:sp>
      <p:sp>
        <p:nvSpPr>
          <p:cNvPr id="18" name="rule1-title"/>
          <p:cNvSpPr txBox="1"/>
          <p:nvPr/>
        </p:nvSpPr>
        <p:spPr>
          <a:xfrm>
            <a:off x="4526280" y="3017520"/>
            <a:ext cx="310896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Same training</a:t>
            </a:r>
            <a:endParaRPr lang="en-US" sz="1600" dirty="0"/>
          </a:p>
        </p:txBody>
      </p:sp>
      <p:sp>
        <p:nvSpPr>
          <p:cNvPr id="19" name="rule1-text"/>
          <p:cNvSpPr txBox="1"/>
          <p:nvPr/>
        </p:nvSpPr>
        <p:spPr>
          <a:xfrm>
            <a:off x="4526280" y="3429000"/>
            <a:ext cx="310896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Batch 32, Adam at 5×10⁻⁴, loss MSE(E) + 100·MSE(F), seed 42, up to 200 epochs</a:t>
            </a:r>
            <a:endParaRPr lang="en-US" sz="1400" dirty="0"/>
          </a:p>
        </p:txBody>
      </p:sp>
      <p:sp>
        <p:nvSpPr>
          <p:cNvPr id="20" name="rule2-card"/>
          <p:cNvSpPr/>
          <p:nvPr/>
        </p:nvSpPr>
        <p:spPr>
          <a:xfrm>
            <a:off x="8046720" y="2834640"/>
            <a:ext cx="3566160" cy="1463040"/>
          </a:xfrm>
          <a:prstGeom prst="roundRect">
            <a:avLst>
              <a:gd name="adj" fmla="val 5000"/>
            </a:avLst>
          </a:prstGeom>
          <a:solidFill>
            <a:schemeClr val="bg2"/>
          </a:solidFill>
          <a:ln/>
        </p:spPr>
      </p:sp>
      <p:sp>
        <p:nvSpPr>
          <p:cNvPr id="21" name="rule2-title"/>
          <p:cNvSpPr txBox="1"/>
          <p:nvPr/>
        </p:nvSpPr>
        <p:spPr>
          <a:xfrm>
            <a:off x="8275320" y="3017520"/>
            <a:ext cx="310896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Same scoring</a:t>
            </a:r>
            <a:endParaRPr lang="en-US" sz="1600" dirty="0"/>
          </a:p>
        </p:txBody>
      </p:sp>
      <p:sp>
        <p:nvSpPr>
          <p:cNvPr id="22" name="rule2-text"/>
          <p:cNvSpPr txBox="1"/>
          <p:nvPr/>
        </p:nvSpPr>
        <p:spPr>
          <a:xfrm>
            <a:off x="8275320" y="3429000"/>
            <a:ext cx="310896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All 55,509 test frames, scored once per model, only through evaluate.py</a:t>
            </a:r>
            <a:endParaRPr lang="en-US" sz="1400" dirty="0"/>
          </a:p>
        </p:txBody>
      </p:sp>
      <p:sp>
        <p:nvSpPr>
          <p:cNvPr id="23" name="rule3-card"/>
          <p:cNvSpPr/>
          <p:nvPr/>
        </p:nvSpPr>
        <p:spPr>
          <a:xfrm>
            <a:off x="548640" y="4480560"/>
            <a:ext cx="3566160" cy="1463040"/>
          </a:xfrm>
          <a:prstGeom prst="roundRect">
            <a:avLst>
              <a:gd name="adj" fmla="val 5000"/>
            </a:avLst>
          </a:prstGeom>
          <a:solidFill>
            <a:schemeClr val="bg2"/>
          </a:solidFill>
          <a:ln/>
        </p:spPr>
      </p:sp>
      <p:sp>
        <p:nvSpPr>
          <p:cNvPr id="24" name="rule3-title"/>
          <p:cNvSpPr txBox="1"/>
          <p:nvPr/>
        </p:nvSpPr>
        <p:spPr>
          <a:xfrm>
            <a:off x="777240" y="4663440"/>
            <a:ext cx="310896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Provably the same test data</a:t>
            </a:r>
            <a:endParaRPr lang="en-US" sz="1600" dirty="0"/>
          </a:p>
        </p:txBody>
      </p:sp>
      <p:sp>
        <p:nvSpPr>
          <p:cNvPr id="25" name="rule3-text"/>
          <p:cNvSpPr txBox="1"/>
          <p:nvPr/>
        </p:nvSpPr>
        <p:spPr>
          <a:xfrm>
            <a:off x="777240" y="5074920"/>
            <a:ext cx="310896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fingerprint of the test data is stored with every score; mismatched runs are refused</a:t>
            </a:r>
            <a:endParaRPr lang="en-US" sz="1400" dirty="0"/>
          </a:p>
        </p:txBody>
      </p:sp>
      <p:sp>
        <p:nvSpPr>
          <p:cNvPr id="26" name="rule4-card"/>
          <p:cNvSpPr/>
          <p:nvPr/>
        </p:nvSpPr>
        <p:spPr>
          <a:xfrm>
            <a:off x="4297680" y="4480560"/>
            <a:ext cx="3566160" cy="1463040"/>
          </a:xfrm>
          <a:prstGeom prst="roundRect">
            <a:avLst>
              <a:gd name="adj" fmla="val 5000"/>
            </a:avLst>
          </a:prstGeom>
          <a:solidFill>
            <a:schemeClr val="bg2"/>
          </a:solidFill>
          <a:ln/>
        </p:spPr>
      </p:sp>
      <p:sp>
        <p:nvSpPr>
          <p:cNvPr id="27" name="rule4-title"/>
          <p:cNvSpPr txBox="1"/>
          <p:nvPr/>
        </p:nvSpPr>
        <p:spPr>
          <a:xfrm>
            <a:off x="4526280" y="4663440"/>
            <a:ext cx="310896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Traceable runs</a:t>
            </a:r>
            <a:endParaRPr lang="en-US" sz="1600" dirty="0"/>
          </a:p>
        </p:txBody>
      </p:sp>
      <p:sp>
        <p:nvSpPr>
          <p:cNvPr id="28" name="rule4-text"/>
          <p:cNvSpPr txBox="1"/>
          <p:nvPr/>
        </p:nvSpPr>
        <p:spPr>
          <a:xfrm>
            <a:off x="4526280" y="5074920"/>
            <a:ext cx="310896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Each run records its git commit, full config, frames used and hardware</a:t>
            </a:r>
            <a:endParaRPr lang="en-US" sz="1400" dirty="0"/>
          </a:p>
        </p:txBody>
      </p:sp>
      <p:sp>
        <p:nvSpPr>
          <p:cNvPr id="29" name="rule5-card"/>
          <p:cNvSpPr/>
          <p:nvPr/>
        </p:nvSpPr>
        <p:spPr>
          <a:xfrm>
            <a:off x="8046720" y="4480560"/>
            <a:ext cx="3566160" cy="1463040"/>
          </a:xfrm>
          <a:prstGeom prst="roundRect">
            <a:avLst>
              <a:gd name="adj" fmla="val 5000"/>
            </a:avLst>
          </a:prstGeom>
          <a:solidFill>
            <a:schemeClr val="bg2"/>
          </a:solidFill>
          <a:ln/>
        </p:spPr>
      </p:sp>
      <p:sp>
        <p:nvSpPr>
          <p:cNvPr id="30" name="rule5-title"/>
          <p:cNvSpPr txBox="1"/>
          <p:nvPr/>
        </p:nvSpPr>
        <p:spPr>
          <a:xfrm>
            <a:off x="8275320" y="4663440"/>
            <a:ext cx="310896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Why a subset</a:t>
            </a:r>
            <a:endParaRPr lang="en-US" sz="1600" dirty="0"/>
          </a:p>
        </p:txBody>
      </p:sp>
      <p:sp>
        <p:nvSpPr>
          <p:cNvPr id="31" name="rule5-text"/>
          <p:cNvSpPr txBox="1"/>
          <p:nvPr/>
        </p:nvSpPr>
        <p:spPr>
          <a:xfrm>
            <a:off x="8275320" y="5074920"/>
            <a:ext cx="310896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Profiling showed the full 444k-frame split would take about 32 hours for PaiNN alone on CPU</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85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PaiNN and DimeNet++ lead; SchNet trails on both measures</a:t>
            </a:r>
            <a:endParaRPr lang="en-US" sz="3000" dirty="0"/>
          </a:p>
        </p:txBody>
      </p:sp>
      <p:sp>
        <p:nvSpPr>
          <p:cNvPr id="3" name="Text 0"/>
          <p:cNvSpPr/>
          <p:nvPr>
            <p:ph idx="101" type="body" hasCustomPrompt="1"/>
          </p:nvPr>
        </p:nvSpPr>
        <p:spPr>
          <a:xfrm>
            <a:off x="548640" y="1097280"/>
            <a:ext cx="11064240" cy="411480"/>
          </a:xfrm>
          <a:prstGeom prst="rect">
            <a:avLst/>
          </a:prstGeom>
          <a:noFill/>
          <a:ln/>
        </p:spPr>
        <p:txBody>
          <a:bodyPr wrap="square" lIns="0" tIns="0" rIns="0" bIns="0" rtlCol="0" anchor="t"/>
          <a:lstStyle/>
          <a:p>
            <a:pPr algn="l" indent="0" marL="0">
              <a:buNone/>
            </a:pPr>
            <a:r>
              <a:rPr lang="en-US" sz="1500" i="1" dirty="0">
                <a:solidFill>
                  <a:schemeClr val="accent1"/>
                </a:solidFill>
                <a:latin typeface="Calibri" pitchFamily="34" charset="0"/>
                <a:ea typeface="Calibri" pitchFamily="34" charset="-122"/>
                <a:cs typeface="Calibri" pitchFamily="34" charset="-120"/>
              </a:rPr>
              <a:t>Mean absolute error on all 55,509 test frames, lower is better</a:t>
            </a:r>
            <a:endParaRPr lang="en-US" sz="1500" dirty="0"/>
          </a:p>
        </p:txBody>
      </p:sp>
      <p:graphicFrame>
        <p:nvGraphicFramePr>
          <p:cNvPr id="4" name="chart-energy-mae" descr="Energy MAE by model"/>
          <p:cNvGraphicFramePr/>
          <p:nvPr/>
        </p:nvGraphicFramePr>
        <p:xfrm>
          <a:off x="548640" y="1691640"/>
          <a:ext cx="544068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force-mae" descr="Force MAE by model"/>
          <p:cNvGraphicFramePr/>
          <p:nvPr/>
        </p:nvGraphicFramePr>
        <p:xfrm>
          <a:off x="6172200" y="1691640"/>
          <a:ext cx="5440680" cy="3840480"/>
        </p:xfrm>
        <a:graphic xmlns:a="http://schemas.openxmlformats.org/drawingml/2006/main">
          <a:graphicData uri="http://schemas.openxmlformats.org/drawingml/2006/chart">
            <c:chart xmlns:c="http://schemas.openxmlformats.org/drawingml/2006/chart" r:id="rId2"/>
          </a:graphicData>
        </a:graphic>
      </p:graphicFrame>
      <p:sp>
        <p:nvSpPr>
          <p:cNvPr id="6" name="rank-note-panel"/>
          <p:cNvSpPr/>
          <p:nvPr/>
        </p:nvSpPr>
        <p:spPr>
          <a:xfrm>
            <a:off x="548640" y="5669280"/>
            <a:ext cx="11064240" cy="548640"/>
          </a:xfrm>
          <a:prstGeom prst="roundRect">
            <a:avLst>
              <a:gd name="adj" fmla="val 13333"/>
            </a:avLst>
          </a:prstGeom>
          <a:solidFill>
            <a:schemeClr val="bg2"/>
          </a:solidFill>
          <a:ln/>
        </p:spPr>
      </p:sp>
      <p:sp>
        <p:nvSpPr>
          <p:cNvPr id="7" name="rank-note"/>
          <p:cNvSpPr txBox="1"/>
          <p:nvPr/>
        </p:nvSpPr>
        <p:spPr>
          <a:xfrm>
            <a:off x="777240" y="5669280"/>
            <a:ext cx="10607040" cy="54864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One seed per model. </a:t>
            </a:r>
            <a:pPr indent="0" marL="0">
              <a:buNone/>
            </a:pPr>
            <a:r>
              <a:rPr lang="en-US" sz="1400" dirty="0">
                <a:solidFill>
                  <a:schemeClr val="tx1"/>
                </a:solidFill>
                <a:latin typeface="Calibri" pitchFamily="34" charset="0"/>
                <a:ea typeface="Calibri" pitchFamily="34" charset="-122"/>
                <a:cs typeface="Calibri" pitchFamily="34" charset="-120"/>
              </a:rPr>
              <a:t>PaiNN and DimeNet++ are 0.002 kcal/mol apart on energy and swap order on forces: treat them as tied.</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85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far to trust the ranking</a:t>
            </a:r>
            <a:endParaRPr lang="en-US" sz="3000" dirty="0"/>
          </a:p>
        </p:txBody>
      </p:sp>
      <p:sp>
        <p:nvSpPr>
          <p:cNvPr id="3" name="Text 0"/>
          <p:cNvSpPr/>
          <p:nvPr>
            <p:ph idx="101" type="body" hasCustomPrompt="1"/>
          </p:nvPr>
        </p:nvSpPr>
        <p:spPr>
          <a:xfrm>
            <a:off x="548640" y="1097280"/>
            <a:ext cx="11064240" cy="411480"/>
          </a:xfrm>
          <a:prstGeom prst="rect">
            <a:avLst/>
          </a:prstGeom>
          <a:noFill/>
          <a:ln/>
        </p:spPr>
        <p:txBody>
          <a:bodyPr wrap="square" lIns="0" tIns="0" rIns="0" bIns="0" rtlCol="0" anchor="t"/>
          <a:lstStyle/>
          <a:p>
            <a:pPr algn="l" indent="0" marL="0">
              <a:buNone/>
            </a:pPr>
            <a:r>
              <a:rPr lang="en-US" sz="1500" i="1" dirty="0">
                <a:solidFill>
                  <a:schemeClr val="accent1"/>
                </a:solidFill>
                <a:latin typeface="Calibri" pitchFamily="34" charset="0"/>
                <a:ea typeface="Calibri" pitchFamily="34" charset="-122"/>
                <a:cs typeface="Calibri" pitchFamily="34" charset="-120"/>
              </a:rPr>
              <a:t>Large gaps are real; small ones need repeat runs before anyone ranks them</a:t>
            </a:r>
            <a:endParaRPr lang="en-US" sz="1500" dirty="0"/>
          </a:p>
        </p:txBody>
      </p:sp>
      <p:sp>
        <p:nvSpPr>
          <p:cNvPr id="4" name="rerun-card"/>
          <p:cNvSpPr/>
          <p:nvPr/>
        </p:nvSpPr>
        <p:spPr>
          <a:xfrm>
            <a:off x="548640" y="1783080"/>
            <a:ext cx="4206240" cy="4297680"/>
          </a:xfrm>
          <a:prstGeom prst="roundRect">
            <a:avLst>
              <a:gd name="adj" fmla="val 1739"/>
            </a:avLst>
          </a:prstGeom>
          <a:solidFill>
            <a:schemeClr val="tx2"/>
          </a:solidFill>
          <a:ln/>
        </p:spPr>
      </p:sp>
      <p:sp>
        <p:nvSpPr>
          <p:cNvPr id="5" name="rerun-stat"/>
          <p:cNvSpPr txBox="1"/>
          <p:nvPr/>
        </p:nvSpPr>
        <p:spPr>
          <a:xfrm>
            <a:off x="548640" y="2057400"/>
            <a:ext cx="4206240" cy="1280160"/>
          </a:xfrm>
          <a:prstGeom prst="rect">
            <a:avLst/>
          </a:prstGeom>
          <a:noFill/>
          <a:ln/>
        </p:spPr>
        <p:txBody>
          <a:bodyPr wrap="square" lIns="0" tIns="0" rIns="0" bIns="0" rtlCol="0" anchor="ctr"/>
          <a:lstStyle/>
          <a:p>
            <a:pPr algn="ctr" indent="0" marL="0">
              <a:buNone/>
            </a:pPr>
            <a:r>
              <a:rPr lang="en-US" sz="6600" b="1" dirty="0">
                <a:solidFill>
                  <a:schemeClr val="accent2"/>
                </a:solidFill>
                <a:latin typeface="Cambria" pitchFamily="34" charset="0"/>
                <a:ea typeface="Cambria" pitchFamily="34" charset="-122"/>
                <a:cs typeface="Cambria" pitchFamily="34" charset="-120"/>
              </a:rPr>
              <a:t>46%</a:t>
            </a:r>
            <a:endParaRPr lang="en-US" sz="6600" dirty="0"/>
          </a:p>
        </p:txBody>
      </p:sp>
      <p:sp>
        <p:nvSpPr>
          <p:cNvPr id="6" name="rerun-label"/>
          <p:cNvSpPr txBox="1"/>
          <p:nvPr/>
        </p:nvSpPr>
        <p:spPr>
          <a:xfrm>
            <a:off x="868680" y="3429000"/>
            <a:ext cx="3566160" cy="1188720"/>
          </a:xfrm>
          <a:prstGeom prst="rect">
            <a:avLst/>
          </a:prstGeom>
          <a:noFill/>
          <a:ln/>
        </p:spPr>
        <p:txBody>
          <a:bodyPr wrap="square" lIns="0" tIns="0" rIns="0" bIns="0" rtlCol="0" anchor="t"/>
          <a:lstStyle/>
          <a:p>
            <a:pPr algn="ctr" indent="0" marL="0">
              <a:buNone/>
            </a:pPr>
            <a:r>
              <a:rPr lang="en-US" sz="1500" dirty="0">
                <a:solidFill>
                  <a:schemeClr val="bg1"/>
                </a:solidFill>
                <a:latin typeface="Calibri" pitchFamily="34" charset="0"/>
                <a:ea typeface="Calibri" pitchFamily="34" charset="-122"/>
                <a:cs typeface="Calibri" pitchFamily="34" charset="-120"/>
              </a:rPr>
              <a:t>change in SchNet's energy error when retrained with the identical config and seed on a different machine</a:t>
            </a:r>
            <a:endParaRPr lang="en-US" sz="1500" dirty="0"/>
          </a:p>
        </p:txBody>
      </p:sp>
      <p:sp>
        <p:nvSpPr>
          <p:cNvPr id="7" name="rerun-values"/>
          <p:cNvSpPr txBox="1"/>
          <p:nvPr/>
        </p:nvSpPr>
        <p:spPr>
          <a:xfrm>
            <a:off x="868680" y="4846320"/>
            <a:ext cx="3566160" cy="457200"/>
          </a:xfrm>
          <a:prstGeom prst="rect">
            <a:avLst/>
          </a:prstGeom>
          <a:noFill/>
          <a:ln/>
        </p:spPr>
        <p:txBody>
          <a:bodyPr wrap="square" lIns="0" tIns="0" rIns="0" bIns="0" rtlCol="0" anchor="t"/>
          <a:lstStyle/>
          <a:p>
            <a:pPr algn="ctr" indent="0" marL="0">
              <a:buNone/>
            </a:pPr>
            <a:r>
              <a:rPr lang="en-US" sz="1500" b="1" dirty="0">
                <a:solidFill>
                  <a:schemeClr val="accent6"/>
                </a:solidFill>
                <a:latin typeface="Calibri" pitchFamily="34" charset="0"/>
                <a:ea typeface="Calibri" pitchFamily="34" charset="-122"/>
                <a:cs typeface="Calibri" pitchFamily="34" charset="-120"/>
              </a:rPr>
              <a:t>0.117 → 0.171 kcal/mol</a:t>
            </a:r>
            <a:endParaRPr lang="en-US" sz="1500" dirty="0"/>
          </a:p>
        </p:txBody>
      </p:sp>
      <p:sp>
        <p:nvSpPr>
          <p:cNvPr id="8" name="caveat1-circle"/>
          <p:cNvSpPr/>
          <p:nvPr/>
        </p:nvSpPr>
        <p:spPr>
          <a:xfrm>
            <a:off x="5166360" y="1920240"/>
            <a:ext cx="548640" cy="548640"/>
          </a:xfrm>
          <a:prstGeom prst="ellipse">
            <a:avLst/>
          </a:prstGeom>
          <a:solidFill>
            <a:schemeClr val="accent5"/>
          </a:solidFill>
          <a:ln/>
        </p:spPr>
      </p:sp>
      <p:sp>
        <p:nvSpPr>
          <p:cNvPr id="9" name="caveat1-num"/>
          <p:cNvSpPr txBox="1"/>
          <p:nvPr/>
        </p:nvSpPr>
        <p:spPr>
          <a:xfrm>
            <a:off x="5166360"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10" name="caveat1-title"/>
          <p:cNvSpPr txBox="1"/>
          <p:nvPr/>
        </p:nvSpPr>
        <p:spPr>
          <a:xfrm>
            <a:off x="5943600" y="1874520"/>
            <a:ext cx="566928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One training seed per model</a:t>
            </a:r>
            <a:endParaRPr lang="en-US" sz="1800" dirty="0"/>
          </a:p>
        </p:txBody>
      </p:sp>
      <p:sp>
        <p:nvSpPr>
          <p:cNvPr id="11" name="caveat1-text"/>
          <p:cNvSpPr txBox="1"/>
          <p:nvPr/>
        </p:nvSpPr>
        <p:spPr>
          <a:xfrm>
            <a:off x="5943600" y="2331720"/>
            <a:ext cx="566928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There is no estimate yet of run-to-run spread, and the rerun on the left shows it can be large.</a:t>
            </a:r>
            <a:endParaRPr lang="en-US" sz="1400" dirty="0"/>
          </a:p>
        </p:txBody>
      </p:sp>
      <p:sp>
        <p:nvSpPr>
          <p:cNvPr id="12" name="caveat2-circle"/>
          <p:cNvSpPr/>
          <p:nvPr/>
        </p:nvSpPr>
        <p:spPr>
          <a:xfrm>
            <a:off x="5166360" y="3337560"/>
            <a:ext cx="548640" cy="548640"/>
          </a:xfrm>
          <a:prstGeom prst="ellipse">
            <a:avLst/>
          </a:prstGeom>
          <a:solidFill>
            <a:schemeClr val="accent5"/>
          </a:solidFill>
          <a:ln/>
        </p:spPr>
      </p:sp>
      <p:sp>
        <p:nvSpPr>
          <p:cNvPr id="13" name="caveat2-num"/>
          <p:cNvSpPr txBox="1"/>
          <p:nvPr/>
        </p:nvSpPr>
        <p:spPr>
          <a:xfrm>
            <a:off x="5166360" y="33375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14" name="caveat2-title"/>
          <p:cNvSpPr txBox="1"/>
          <p:nvPr/>
        </p:nvSpPr>
        <p:spPr>
          <a:xfrm>
            <a:off x="5943600" y="3291840"/>
            <a:ext cx="566928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Stopped at the 200-epoch cap</a:t>
            </a:r>
            <a:endParaRPr lang="en-US" sz="1800" dirty="0"/>
          </a:p>
        </p:txBody>
      </p:sp>
      <p:sp>
        <p:nvSpPr>
          <p:cNvPr id="15" name="caveat2-text"/>
          <p:cNvSpPr txBox="1"/>
          <p:nvPr/>
        </p:nvSpPr>
        <p:spPr>
          <a:xfrm>
            <a:off x="5943600" y="3749040"/>
            <a:ext cx="566928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Four of the five models had their best epoch at 199 or 200. Longer training would likely lower errors and could reorder close models.</a:t>
            </a:r>
            <a:endParaRPr lang="en-US" sz="1400" dirty="0"/>
          </a:p>
        </p:txBody>
      </p:sp>
      <p:sp>
        <p:nvSpPr>
          <p:cNvPr id="16" name="caveat3-circle"/>
          <p:cNvSpPr/>
          <p:nvPr/>
        </p:nvSpPr>
        <p:spPr>
          <a:xfrm>
            <a:off x="5166360" y="4754880"/>
            <a:ext cx="548640" cy="548640"/>
          </a:xfrm>
          <a:prstGeom prst="ellipse">
            <a:avLst/>
          </a:prstGeom>
          <a:solidFill>
            <a:schemeClr val="accent5"/>
          </a:solidFill>
          <a:ln/>
        </p:spPr>
      </p:sp>
      <p:sp>
        <p:nvSpPr>
          <p:cNvPr id="17" name="caveat3-num"/>
          <p:cNvSpPr txBox="1"/>
          <p:nvPr/>
        </p:nvSpPr>
        <p:spPr>
          <a:xfrm>
            <a:off x="5166360" y="47548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18" name="caveat3-title"/>
          <p:cNvSpPr txBox="1"/>
          <p:nvPr/>
        </p:nvSpPr>
        <p:spPr>
          <a:xfrm>
            <a:off x="5943600" y="4709160"/>
            <a:ext cx="566928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Different model sizes</a:t>
            </a:r>
            <a:endParaRPr lang="en-US" sz="1800" dirty="0"/>
          </a:p>
        </p:txBody>
      </p:sp>
      <p:sp>
        <p:nvSpPr>
          <p:cNvPr id="19" name="caveat3-text"/>
          <p:cNvSpPr txBox="1"/>
          <p:nvPr/>
        </p:nvSpPr>
        <p:spPr>
          <a:xfrm>
            <a:off x="5943600" y="5166360"/>
            <a:ext cx="566928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From 62k (SchNet) to 809k (PhysNet) parameters. Each model is compared at its own configured size.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85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BLIP: the same backbone, with stochastic weights</a:t>
            </a:r>
            <a:endParaRPr lang="en-US" sz="3000" dirty="0"/>
          </a:p>
        </p:txBody>
      </p:sp>
      <p:sp>
        <p:nvSpPr>
          <p:cNvPr id="3" name="Text 0"/>
          <p:cNvSpPr/>
          <p:nvPr>
            <p:ph idx="101" type="body" hasCustomPrompt="1"/>
          </p:nvPr>
        </p:nvSpPr>
        <p:spPr>
          <a:xfrm>
            <a:off x="548640" y="1097280"/>
            <a:ext cx="11064240" cy="411480"/>
          </a:xfrm>
          <a:prstGeom prst="rect">
            <a:avLst/>
          </a:prstGeom>
          <a:noFill/>
          <a:ln/>
        </p:spPr>
        <p:txBody>
          <a:bodyPr wrap="square" lIns="0" tIns="0" rIns="0" bIns="0" rtlCol="0" anchor="t"/>
          <a:lstStyle/>
          <a:p>
            <a:pPr algn="l" indent="0" marL="0">
              <a:buNone/>
            </a:pPr>
            <a:r>
              <a:rPr lang="en-US" sz="1500" i="1" dirty="0">
                <a:solidFill>
                  <a:schemeClr val="accent1"/>
                </a:solidFill>
                <a:latin typeface="Calibri" pitchFamily="34" charset="0"/>
                <a:ea typeface="Calibri" pitchFamily="34" charset="-122"/>
                <a:cs typeface="Calibri" pitchFamily="34" charset="-120"/>
              </a:rPr>
              <a:t>Many noisy forward passes give a prediction and a spread; the spread is the confidence estimate</a:t>
            </a:r>
            <a:endParaRPr lang="en-US" sz="1500" dirty="0"/>
          </a:p>
        </p:txBody>
      </p:sp>
      <p:sp>
        <p:nvSpPr>
          <p:cNvPr id="4" name="flow-box0"/>
          <p:cNvSpPr/>
          <p:nvPr/>
        </p:nvSpPr>
        <p:spPr>
          <a:xfrm>
            <a:off x="548640" y="2011680"/>
            <a:ext cx="2194560" cy="1234440"/>
          </a:xfrm>
          <a:prstGeom prst="roundRect">
            <a:avLst>
              <a:gd name="adj" fmla="val 5926"/>
            </a:avLst>
          </a:prstGeom>
          <a:solidFill>
            <a:schemeClr val="bg2"/>
          </a:solidFill>
          <a:ln/>
        </p:spPr>
      </p:sp>
      <p:sp>
        <p:nvSpPr>
          <p:cNvPr id="5" name="flow-text0"/>
          <p:cNvSpPr txBox="1"/>
          <p:nvPr/>
        </p:nvSpPr>
        <p:spPr>
          <a:xfrm>
            <a:off x="685800" y="2011680"/>
            <a:ext cx="1920240" cy="1234440"/>
          </a:xfrm>
          <a:prstGeom prst="rect">
            <a:avLst/>
          </a:prstGeom>
          <a:noFill/>
          <a:ln/>
        </p:spPr>
        <p:txBody>
          <a:bodyPr wrap="square" lIns="0" tIns="0" rIns="0" bIns="0" rtlCol="0" anchor="ctr"/>
          <a:lstStyle/>
          <a:p>
            <a:pPr algn="ctr" indent="0" marL="0">
              <a:buNone/>
            </a:pPr>
            <a:r>
              <a:rPr lang="en-US" sz="1700" b="1" dirty="0">
                <a:solidFill>
                  <a:schemeClr val="tx1"/>
                </a:solidFill>
                <a:latin typeface="Calibri" pitchFamily="34" charset="0"/>
                <a:ea typeface="Calibri" pitchFamily="34" charset="-122"/>
                <a:cs typeface="Calibri" pitchFamily="34" charset="-120"/>
              </a:rPr>
              <a:t>Atom positions</a:t>
            </a:r>
            <a:endParaRPr lang="en-US" sz="1700" dirty="0"/>
          </a:p>
          <a:p>
            <a:pPr algn="ctr" indent="0" marL="0">
              <a:buNone/>
            </a:pPr>
            <a:r>
              <a:rPr lang="en-US" sz="1300" dirty="0">
                <a:solidFill>
                  <a:schemeClr val="tx1"/>
                </a:solidFill>
                <a:latin typeface="Calibri" pitchFamily="34" charset="0"/>
                <a:ea typeface="Calibri" pitchFamily="34" charset="-122"/>
                <a:cs typeface="Calibri" pitchFamily="34" charset="-120"/>
              </a:rPr>
              <a:t>z, R for one structure</a:t>
            </a:r>
            <a:endParaRPr lang="en-US" sz="1700" dirty="0"/>
          </a:p>
        </p:txBody>
      </p:sp>
      <p:sp>
        <p:nvSpPr>
          <p:cNvPr id="6" name="flow-arrow0"/>
          <p:cNvSpPr/>
          <p:nvPr/>
        </p:nvSpPr>
        <p:spPr>
          <a:xfrm>
            <a:off x="2788920" y="2628900"/>
            <a:ext cx="411480" cy="0"/>
          </a:xfrm>
          <a:prstGeom prst="line">
            <a:avLst/>
          </a:prstGeom>
          <a:noFill/>
          <a:ln w="22225">
            <a:solidFill>
              <a:srgbClr val="5B6B78"/>
            </a:solidFill>
            <a:prstDash val="solid"/>
            <a:tailEnd type="triangle"/>
          </a:ln>
        </p:spPr>
      </p:sp>
      <p:sp>
        <p:nvSpPr>
          <p:cNvPr id="7" name="flow-box1"/>
          <p:cNvSpPr/>
          <p:nvPr/>
        </p:nvSpPr>
        <p:spPr>
          <a:xfrm>
            <a:off x="3246120" y="2011680"/>
            <a:ext cx="2834640" cy="1234440"/>
          </a:xfrm>
          <a:prstGeom prst="roundRect">
            <a:avLst>
              <a:gd name="adj" fmla="val 5926"/>
            </a:avLst>
          </a:prstGeom>
          <a:solidFill>
            <a:schemeClr val="accent1"/>
          </a:solidFill>
          <a:ln/>
        </p:spPr>
      </p:sp>
      <p:sp>
        <p:nvSpPr>
          <p:cNvPr id="8" name="flow-text1"/>
          <p:cNvSpPr txBox="1"/>
          <p:nvPr/>
        </p:nvSpPr>
        <p:spPr>
          <a:xfrm>
            <a:off x="3383280" y="2011680"/>
            <a:ext cx="2560320" cy="123444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MPNN backbone</a:t>
            </a:r>
            <a:endParaRPr lang="en-US" sz="1700" dirty="0"/>
          </a:p>
          <a:p>
            <a:pPr algn="ctr" indent="0" marL="0">
              <a:buNone/>
            </a:pPr>
            <a:r>
              <a:rPr lang="en-US" sz="1300" dirty="0">
                <a:solidFill>
                  <a:schemeClr val="bg1"/>
                </a:solidFill>
                <a:latin typeface="Calibri" pitchFamily="34" charset="0"/>
                <a:ea typeface="Calibri" pitchFamily="34" charset="-122"/>
                <a:cs typeface="Calibri" pitchFamily="34" charset="-120"/>
              </a:rPr>
              <a:t>message-passing weights carry Gaussian noise</a:t>
            </a:r>
            <a:endParaRPr lang="en-US" sz="1700" dirty="0"/>
          </a:p>
        </p:txBody>
      </p:sp>
      <p:sp>
        <p:nvSpPr>
          <p:cNvPr id="9" name="flow-arrow1"/>
          <p:cNvSpPr/>
          <p:nvPr/>
        </p:nvSpPr>
        <p:spPr>
          <a:xfrm>
            <a:off x="6126480" y="2628900"/>
            <a:ext cx="411480" cy="0"/>
          </a:xfrm>
          <a:prstGeom prst="line">
            <a:avLst/>
          </a:prstGeom>
          <a:noFill/>
          <a:ln w="22225">
            <a:solidFill>
              <a:srgbClr val="5B6B78"/>
            </a:solidFill>
            <a:prstDash val="solid"/>
            <a:tailEnd type="triangle"/>
          </a:ln>
        </p:spPr>
      </p:sp>
      <p:sp>
        <p:nvSpPr>
          <p:cNvPr id="10" name="flow-box2"/>
          <p:cNvSpPr/>
          <p:nvPr/>
        </p:nvSpPr>
        <p:spPr>
          <a:xfrm>
            <a:off x="6583680" y="2011680"/>
            <a:ext cx="2103120" cy="1234440"/>
          </a:xfrm>
          <a:prstGeom prst="roundRect">
            <a:avLst>
              <a:gd name="adj" fmla="val 5926"/>
            </a:avLst>
          </a:prstGeom>
          <a:solidFill>
            <a:schemeClr val="bg2"/>
          </a:solidFill>
          <a:ln/>
        </p:spPr>
      </p:sp>
      <p:sp>
        <p:nvSpPr>
          <p:cNvPr id="11" name="flow-text2"/>
          <p:cNvSpPr txBox="1"/>
          <p:nvPr/>
        </p:nvSpPr>
        <p:spPr>
          <a:xfrm>
            <a:off x="6720840" y="2011680"/>
            <a:ext cx="1828800" cy="1234440"/>
          </a:xfrm>
          <a:prstGeom prst="rect">
            <a:avLst/>
          </a:prstGeom>
          <a:noFill/>
          <a:ln/>
        </p:spPr>
        <p:txBody>
          <a:bodyPr wrap="square" lIns="0" tIns="0" rIns="0" bIns="0" rtlCol="0" anchor="ctr"/>
          <a:lstStyle/>
          <a:p>
            <a:pPr algn="ctr" indent="0" marL="0">
              <a:buNone/>
            </a:pPr>
            <a:r>
              <a:rPr lang="en-US" sz="1700" b="1" dirty="0">
                <a:solidFill>
                  <a:schemeClr val="tx1"/>
                </a:solidFill>
                <a:latin typeface="Calibri" pitchFamily="34" charset="0"/>
                <a:ea typeface="Calibri" pitchFamily="34" charset="-122"/>
                <a:cs typeface="Calibri" pitchFamily="34" charset="-120"/>
              </a:rPr>
              <a:t>20 passes</a:t>
            </a:r>
            <a:endParaRPr lang="en-US" sz="1700" dirty="0"/>
          </a:p>
          <a:p>
            <a:pPr algn="ctr" indent="0" marL="0">
              <a:buNone/>
            </a:pPr>
            <a:r>
              <a:rPr lang="en-US" sz="1300" dirty="0">
                <a:solidFill>
                  <a:schemeClr val="tx1"/>
                </a:solidFill>
                <a:latin typeface="Calibri" pitchFamily="34" charset="0"/>
                <a:ea typeface="Calibri" pitchFamily="34" charset="-122"/>
                <a:cs typeface="Calibri" pitchFamily="34" charset="-120"/>
              </a:rPr>
              <a:t>each with fresh noise</a:t>
            </a:r>
            <a:endParaRPr lang="en-US" sz="1700" dirty="0"/>
          </a:p>
        </p:txBody>
      </p:sp>
      <p:sp>
        <p:nvSpPr>
          <p:cNvPr id="12" name="out-box0"/>
          <p:cNvSpPr/>
          <p:nvPr/>
        </p:nvSpPr>
        <p:spPr>
          <a:xfrm>
            <a:off x="9235440" y="1783080"/>
            <a:ext cx="2377440" cy="777240"/>
          </a:xfrm>
          <a:prstGeom prst="roundRect">
            <a:avLst>
              <a:gd name="adj" fmla="val 9412"/>
            </a:avLst>
          </a:prstGeom>
          <a:solidFill>
            <a:schemeClr val="tx1"/>
          </a:solidFill>
          <a:ln/>
        </p:spPr>
      </p:sp>
      <p:sp>
        <p:nvSpPr>
          <p:cNvPr id="13" name="out-text0"/>
          <p:cNvSpPr txBox="1"/>
          <p:nvPr/>
        </p:nvSpPr>
        <p:spPr>
          <a:xfrm>
            <a:off x="9326880" y="1783080"/>
            <a:ext cx="2194560" cy="7772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Mean</a:t>
            </a:r>
            <a:endParaRPr lang="en-US" sz="1600" dirty="0"/>
          </a:p>
          <a:p>
            <a:pPr algn="ctr" indent="0" marL="0">
              <a:buNone/>
            </a:pPr>
            <a:r>
              <a:rPr lang="en-US" sz="1200" dirty="0">
                <a:solidFill>
                  <a:schemeClr val="bg1"/>
                </a:solidFill>
                <a:latin typeface="Calibri" pitchFamily="34" charset="0"/>
                <a:ea typeface="Calibri" pitchFamily="34" charset="-122"/>
                <a:cs typeface="Calibri" pitchFamily="34" charset="-120"/>
              </a:rPr>
              <a:t>→ predicted energy and forces</a:t>
            </a:r>
            <a:endParaRPr lang="en-US" sz="1600" dirty="0"/>
          </a:p>
        </p:txBody>
      </p:sp>
      <p:sp>
        <p:nvSpPr>
          <p:cNvPr id="14" name="out-arrow0"/>
          <p:cNvSpPr/>
          <p:nvPr/>
        </p:nvSpPr>
        <p:spPr>
          <a:xfrm>
            <a:off x="8732520" y="2628900"/>
            <a:ext cx="457200" cy="-457200"/>
          </a:xfrm>
          <a:prstGeom prst="line">
            <a:avLst/>
          </a:prstGeom>
          <a:noFill/>
          <a:ln w="22225">
            <a:solidFill>
              <a:srgbClr val="5B6B78"/>
            </a:solidFill>
            <a:prstDash val="solid"/>
            <a:tailEnd type="triangle"/>
          </a:ln>
        </p:spPr>
      </p:sp>
      <p:sp>
        <p:nvSpPr>
          <p:cNvPr id="15" name="out-box1"/>
          <p:cNvSpPr/>
          <p:nvPr/>
        </p:nvSpPr>
        <p:spPr>
          <a:xfrm>
            <a:off x="9235440" y="2743200"/>
            <a:ext cx="2377440" cy="777240"/>
          </a:xfrm>
          <a:prstGeom prst="roundRect">
            <a:avLst>
              <a:gd name="adj" fmla="val 9412"/>
            </a:avLst>
          </a:prstGeom>
          <a:solidFill>
            <a:schemeClr val="accent2"/>
          </a:solidFill>
          <a:ln/>
        </p:spPr>
      </p:sp>
      <p:sp>
        <p:nvSpPr>
          <p:cNvPr id="16" name="out-text1"/>
          <p:cNvSpPr txBox="1"/>
          <p:nvPr/>
        </p:nvSpPr>
        <p:spPr>
          <a:xfrm>
            <a:off x="9326880" y="2743200"/>
            <a:ext cx="2194560" cy="7772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Spread</a:t>
            </a:r>
            <a:endParaRPr lang="en-US" sz="1600" dirty="0"/>
          </a:p>
          <a:p>
            <a:pPr algn="ctr" indent="0" marL="0">
              <a:buNone/>
            </a:pPr>
            <a:r>
              <a:rPr lang="en-US" sz="1200" dirty="0">
                <a:solidFill>
                  <a:schemeClr val="bg1"/>
                </a:solidFill>
                <a:latin typeface="Calibri" pitchFamily="34" charset="0"/>
                <a:ea typeface="Calibri" pitchFamily="34" charset="-122"/>
                <a:cs typeface="Calibri" pitchFamily="34" charset="-120"/>
              </a:rPr>
              <a:t>→ how sure the model is</a:t>
            </a:r>
            <a:endParaRPr lang="en-US" sz="1600" dirty="0"/>
          </a:p>
        </p:txBody>
      </p:sp>
      <p:sp>
        <p:nvSpPr>
          <p:cNvPr id="17" name="out-arrow1"/>
          <p:cNvSpPr/>
          <p:nvPr/>
        </p:nvSpPr>
        <p:spPr>
          <a:xfrm>
            <a:off x="8732520" y="2628900"/>
            <a:ext cx="457200" cy="502920"/>
          </a:xfrm>
          <a:prstGeom prst="line">
            <a:avLst/>
          </a:prstGeom>
          <a:noFill/>
          <a:ln w="22225">
            <a:solidFill>
              <a:srgbClr val="5B6B78"/>
            </a:solidFill>
            <a:prstDash val="solid"/>
            <a:tailEnd type="triangle"/>
          </a:ln>
        </p:spPr>
      </p:sp>
      <p:sp>
        <p:nvSpPr>
          <p:cNvPr id="18" name="good-panel"/>
          <p:cNvSpPr/>
          <p:nvPr/>
        </p:nvSpPr>
        <p:spPr>
          <a:xfrm>
            <a:off x="548640" y="3977640"/>
            <a:ext cx="11064240" cy="1783080"/>
          </a:xfrm>
          <a:prstGeom prst="roundRect">
            <a:avLst>
              <a:gd name="adj" fmla="val 4103"/>
            </a:avLst>
          </a:prstGeom>
          <a:solidFill>
            <a:schemeClr val="bg2"/>
          </a:solidFill>
          <a:ln/>
        </p:spPr>
      </p:sp>
      <p:sp>
        <p:nvSpPr>
          <p:cNvPr id="19" name="good-title"/>
          <p:cNvSpPr txBox="1"/>
          <p:nvPr/>
        </p:nvSpPr>
        <p:spPr>
          <a:xfrm>
            <a:off x="822960" y="4206240"/>
            <a:ext cx="1051560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What a useful confidence estimate does</a:t>
            </a:r>
            <a:endParaRPr lang="en-US" sz="1800" dirty="0"/>
          </a:p>
        </p:txBody>
      </p:sp>
      <p:sp>
        <p:nvSpPr>
          <p:cNvPr id="20" name="good-text"/>
          <p:cNvSpPr txBox="1"/>
          <p:nvPr/>
        </p:nvSpPr>
        <p:spPr>
          <a:xfrm>
            <a:off x="822960" y="4709160"/>
            <a:ext cx="10515600" cy="914400"/>
          </a:xfrm>
          <a:prstGeom prst="rect">
            <a:avLst/>
          </a:prstGeom>
          <a:noFill/>
          <a:ln/>
        </p:spPr>
        <p:txBody>
          <a:bodyPr wrap="square" lIns="0" tIns="0" rIns="0" bIns="0" rtlCol="0" anchor="t"/>
          <a:lstStyle/>
          <a:p>
            <a:pPr indent="0" marL="0">
              <a:spcAft>
                <a:spcPts val="800"/>
              </a:spcAft>
              <a:buNone/>
            </a:pPr>
            <a:r>
              <a:rPr lang="en-US" sz="1500" b="1" dirty="0">
                <a:solidFill>
                  <a:schemeClr val="accent1"/>
                </a:solidFill>
                <a:latin typeface="Calibri" pitchFamily="34" charset="0"/>
                <a:ea typeface="Calibri" pitchFamily="34" charset="-122"/>
                <a:cs typeface="Calibri" pitchFamily="34" charset="-120"/>
              </a:rPr>
              <a:t>Calibrated: </a:t>
            </a:r>
            <a:pPr indent="0" marL="0">
              <a:spcAft>
                <a:spcPts val="800"/>
              </a:spcAft>
              <a:buNone/>
            </a:pPr>
            <a:r>
              <a:rPr lang="en-US" sz="1500" dirty="0">
                <a:solidFill>
                  <a:schemeClr val="tx1"/>
                </a:solidFill>
                <a:latin typeface="Calibri" pitchFamily="34" charset="0"/>
                <a:ea typeface="Calibri" pitchFamily="34" charset="-122"/>
                <a:cs typeface="Calibri" pitchFamily="34" charset="-120"/>
              </a:rPr>
              <a:t>a 90% interval contains the true value about 90% of the time.</a:t>
            </a:r>
            <a:endParaRPr lang="en-US" sz="1500" dirty="0"/>
          </a:p>
          <a:p>
            <a:pPr indent="0" marL="0">
              <a:spcAft>
                <a:spcPts val="800"/>
              </a:spcAft>
              <a:buNone/>
            </a:pPr>
            <a:r>
              <a:rPr lang="en-US" sz="1500" b="1" dirty="0">
                <a:solidFill>
                  <a:schemeClr val="accent1"/>
                </a:solidFill>
                <a:latin typeface="Calibri" pitchFamily="34" charset="0"/>
                <a:ea typeface="Calibri" pitchFamily="34" charset="-122"/>
                <a:cs typeface="Calibri" pitchFamily="34" charset="-120"/>
              </a:rPr>
              <a:t>Informative: </a:t>
            </a:r>
            <a:pPr indent="0" marL="0">
              <a:spcAft>
                <a:spcPts val="800"/>
              </a:spcAft>
              <a:buNone/>
            </a:pPr>
            <a:r>
              <a:rPr lang="en-US" sz="1500" dirty="0">
                <a:solidFill>
                  <a:schemeClr val="tx1"/>
                </a:solidFill>
                <a:latin typeface="Calibri" pitchFamily="34" charset="0"/>
                <a:ea typeface="Calibri" pitchFamily="34" charset="-122"/>
                <a:cs typeface="Calibri" pitchFamily="34" charset="-120"/>
              </a:rPr>
              <a:t>the model is less sure exactly where its errors are larger, so it can flag structures to recheck with DFT.</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85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First BLIP run: less accurate, and overconfident</a:t>
            </a:r>
            <a:endParaRPr lang="en-US" sz="3000" dirty="0"/>
          </a:p>
        </p:txBody>
      </p:sp>
      <p:sp>
        <p:nvSpPr>
          <p:cNvPr id="3" name="Text 0"/>
          <p:cNvSpPr/>
          <p:nvPr>
            <p:ph idx="101" type="body" hasCustomPrompt="1"/>
          </p:nvPr>
        </p:nvSpPr>
        <p:spPr>
          <a:xfrm>
            <a:off x="548640" y="1097280"/>
            <a:ext cx="11064240" cy="411480"/>
          </a:xfrm>
          <a:prstGeom prst="rect">
            <a:avLst/>
          </a:prstGeom>
          <a:noFill/>
          <a:ln/>
        </p:spPr>
        <p:txBody>
          <a:bodyPr wrap="square" lIns="0" tIns="0" rIns="0" bIns="0" rtlCol="0" anchor="t"/>
          <a:lstStyle/>
          <a:p>
            <a:pPr algn="l" indent="0" marL="0">
              <a:buNone/>
            </a:pPr>
            <a:r>
              <a:rPr lang="en-US" sz="1500" i="1" dirty="0">
                <a:solidFill>
                  <a:schemeClr val="accent1"/>
                </a:solidFill>
                <a:latin typeface="Calibri" pitchFamily="34" charset="0"/>
                <a:ea typeface="Calibri" pitchFamily="34" charset="-122"/>
                <a:cs typeface="Calibri" pitchFamily="34" charset="-120"/>
              </a:rPr>
              <a:t>Trained with the standard MSE loss for 200 epochs, on the same data and scoring path as Phase 1</a:t>
            </a:r>
            <a:endParaRPr lang="en-US" sz="1500" dirty="0"/>
          </a:p>
        </p:txBody>
      </p:sp>
      <p:sp>
        <p:nvSpPr>
          <p:cNvPr id="4" name="blip-tile0"/>
          <p:cNvSpPr/>
          <p:nvPr/>
        </p:nvSpPr>
        <p:spPr>
          <a:xfrm>
            <a:off x="548640" y="1783080"/>
            <a:ext cx="3566160" cy="2514600"/>
          </a:xfrm>
          <a:prstGeom prst="roundRect">
            <a:avLst>
              <a:gd name="adj" fmla="val 2909"/>
            </a:avLst>
          </a:prstGeom>
          <a:solidFill>
            <a:schemeClr val="tx2"/>
          </a:solidFill>
          <a:ln/>
        </p:spPr>
      </p:sp>
      <p:sp>
        <p:nvSpPr>
          <p:cNvPr id="5" name="blip-stat0"/>
          <p:cNvSpPr txBox="1"/>
          <p:nvPr/>
        </p:nvSpPr>
        <p:spPr>
          <a:xfrm>
            <a:off x="548640" y="1920240"/>
            <a:ext cx="3566160" cy="1051560"/>
          </a:xfrm>
          <a:prstGeom prst="rect">
            <a:avLst/>
          </a:prstGeom>
          <a:noFill/>
          <a:ln/>
        </p:spPr>
        <p:txBody>
          <a:bodyPr wrap="square" lIns="0" tIns="0" rIns="0" bIns="0" rtlCol="0" anchor="ctr"/>
          <a:lstStyle/>
          <a:p>
            <a:pPr algn="ctr" indent="0" marL="0">
              <a:buNone/>
            </a:pPr>
            <a:r>
              <a:rPr lang="en-US" sz="5400" b="1" dirty="0">
                <a:solidFill>
                  <a:schemeClr val="accent2"/>
                </a:solidFill>
                <a:latin typeface="Cambria" pitchFamily="34" charset="0"/>
                <a:ea typeface="Cambria" pitchFamily="34" charset="-122"/>
                <a:cs typeface="Cambria" pitchFamily="34" charset="-120"/>
              </a:rPr>
              <a:t>2×</a:t>
            </a:r>
            <a:endParaRPr lang="en-US" sz="5400" dirty="0"/>
          </a:p>
        </p:txBody>
      </p:sp>
      <p:sp>
        <p:nvSpPr>
          <p:cNvPr id="6" name="blip-label0"/>
          <p:cNvSpPr txBox="1"/>
          <p:nvPr/>
        </p:nvSpPr>
        <p:spPr>
          <a:xfrm>
            <a:off x="822960" y="3063240"/>
            <a:ext cx="3017520" cy="1097280"/>
          </a:xfrm>
          <a:prstGeom prst="rect">
            <a:avLst/>
          </a:prstGeom>
          <a:noFill/>
          <a:ln/>
        </p:spPr>
        <p:txBody>
          <a:bodyPr wrap="square" lIns="0" tIns="0" rIns="0" bIns="0" rtlCol="0" anchor="t"/>
          <a:lstStyle/>
          <a:p>
            <a:pPr algn="ctr" indent="0" marL="0">
              <a:buNone/>
            </a:pPr>
            <a:r>
              <a:rPr lang="en-US" sz="1500" dirty="0">
                <a:solidFill>
                  <a:schemeClr val="bg1"/>
                </a:solidFill>
                <a:latin typeface="Calibri" pitchFamily="34" charset="0"/>
                <a:ea typeface="Calibri" pitchFamily="34" charset="-122"/>
                <a:cs typeface="Calibri" pitchFamily="34" charset="-120"/>
              </a:rPr>
              <a:t>the energy error of its own MPNN backbone (0.158 vs 0.078 kcal/mol)</a:t>
            </a:r>
            <a:endParaRPr lang="en-US" sz="1500" dirty="0"/>
          </a:p>
        </p:txBody>
      </p:sp>
      <p:sp>
        <p:nvSpPr>
          <p:cNvPr id="7" name="blip-tile1"/>
          <p:cNvSpPr/>
          <p:nvPr/>
        </p:nvSpPr>
        <p:spPr>
          <a:xfrm>
            <a:off x="4297680" y="1783080"/>
            <a:ext cx="3566160" cy="2514600"/>
          </a:xfrm>
          <a:prstGeom prst="roundRect">
            <a:avLst>
              <a:gd name="adj" fmla="val 2909"/>
            </a:avLst>
          </a:prstGeom>
          <a:solidFill>
            <a:schemeClr val="tx2"/>
          </a:solidFill>
          <a:ln/>
        </p:spPr>
      </p:sp>
      <p:sp>
        <p:nvSpPr>
          <p:cNvPr id="8" name="blip-stat1"/>
          <p:cNvSpPr txBox="1"/>
          <p:nvPr/>
        </p:nvSpPr>
        <p:spPr>
          <a:xfrm>
            <a:off x="4297680" y="1920240"/>
            <a:ext cx="3566160" cy="1051560"/>
          </a:xfrm>
          <a:prstGeom prst="rect">
            <a:avLst/>
          </a:prstGeom>
          <a:noFill/>
          <a:ln/>
        </p:spPr>
        <p:txBody>
          <a:bodyPr wrap="square" lIns="0" tIns="0" rIns="0" bIns="0" rtlCol="0" anchor="ctr"/>
          <a:lstStyle/>
          <a:p>
            <a:pPr algn="ctr" indent="0" marL="0">
              <a:buNone/>
            </a:pPr>
            <a:r>
              <a:rPr lang="en-US" sz="5400" b="1" dirty="0">
                <a:solidFill>
                  <a:schemeClr val="accent2"/>
                </a:solidFill>
                <a:latin typeface="Cambria" pitchFamily="34" charset="0"/>
                <a:ea typeface="Cambria" pitchFamily="34" charset="-122"/>
                <a:cs typeface="Cambria" pitchFamily="34" charset="-120"/>
              </a:rPr>
              <a:t>12%</a:t>
            </a:r>
            <a:endParaRPr lang="en-US" sz="5400" dirty="0"/>
          </a:p>
        </p:txBody>
      </p:sp>
      <p:sp>
        <p:nvSpPr>
          <p:cNvPr id="9" name="blip-label1"/>
          <p:cNvSpPr txBox="1"/>
          <p:nvPr/>
        </p:nvSpPr>
        <p:spPr>
          <a:xfrm>
            <a:off x="4572000" y="3063240"/>
            <a:ext cx="3017520" cy="1097280"/>
          </a:xfrm>
          <a:prstGeom prst="rect">
            <a:avLst/>
          </a:prstGeom>
          <a:noFill/>
          <a:ln/>
        </p:spPr>
        <p:txBody>
          <a:bodyPr wrap="square" lIns="0" tIns="0" rIns="0" bIns="0" rtlCol="0" anchor="t"/>
          <a:lstStyle/>
          <a:p>
            <a:pPr algn="ctr" indent="0" marL="0">
              <a:buNone/>
            </a:pPr>
            <a:r>
              <a:rPr lang="en-US" sz="1500" dirty="0">
                <a:solidFill>
                  <a:schemeClr val="bg1"/>
                </a:solidFill>
                <a:latin typeface="Calibri" pitchFamily="34" charset="0"/>
                <a:ea typeface="Calibri" pitchFamily="34" charset="-122"/>
                <a:cs typeface="Calibri" pitchFamily="34" charset="-120"/>
              </a:rPr>
              <a:t>of true energies fall inside BLIP's 95% interval; a calibrated model would catch 95%</a:t>
            </a:r>
            <a:endParaRPr lang="en-US" sz="1500" dirty="0"/>
          </a:p>
        </p:txBody>
      </p:sp>
      <p:sp>
        <p:nvSpPr>
          <p:cNvPr id="10" name="blip-tile2"/>
          <p:cNvSpPr/>
          <p:nvPr/>
        </p:nvSpPr>
        <p:spPr>
          <a:xfrm>
            <a:off x="8046720" y="1783080"/>
            <a:ext cx="3566160" cy="2514600"/>
          </a:xfrm>
          <a:prstGeom prst="roundRect">
            <a:avLst>
              <a:gd name="adj" fmla="val 2909"/>
            </a:avLst>
          </a:prstGeom>
          <a:solidFill>
            <a:schemeClr val="tx2"/>
          </a:solidFill>
          <a:ln/>
        </p:spPr>
      </p:sp>
      <p:sp>
        <p:nvSpPr>
          <p:cNvPr id="11" name="blip-stat2"/>
          <p:cNvSpPr txBox="1"/>
          <p:nvPr/>
        </p:nvSpPr>
        <p:spPr>
          <a:xfrm>
            <a:off x="8046720" y="1920240"/>
            <a:ext cx="3566160" cy="1051560"/>
          </a:xfrm>
          <a:prstGeom prst="rect">
            <a:avLst/>
          </a:prstGeom>
          <a:noFill/>
          <a:ln/>
        </p:spPr>
        <p:txBody>
          <a:bodyPr wrap="square" lIns="0" tIns="0" rIns="0" bIns="0" rtlCol="0" anchor="ctr"/>
          <a:lstStyle/>
          <a:p>
            <a:pPr algn="ctr" indent="0" marL="0">
              <a:buNone/>
            </a:pPr>
            <a:r>
              <a:rPr lang="en-US" sz="5400" b="1" dirty="0">
                <a:solidFill>
                  <a:schemeClr val="accent2"/>
                </a:solidFill>
                <a:latin typeface="Cambria" pitchFamily="34" charset="0"/>
                <a:ea typeface="Cambria" pitchFamily="34" charset="-122"/>
                <a:cs typeface="Cambria" pitchFamily="34" charset="-120"/>
              </a:rPr>
              <a:t>~6×</a:t>
            </a:r>
            <a:endParaRPr lang="en-US" sz="5400" dirty="0"/>
          </a:p>
        </p:txBody>
      </p:sp>
      <p:sp>
        <p:nvSpPr>
          <p:cNvPr id="12" name="blip-label2"/>
          <p:cNvSpPr txBox="1"/>
          <p:nvPr/>
        </p:nvSpPr>
        <p:spPr>
          <a:xfrm>
            <a:off x="8321040" y="3063240"/>
            <a:ext cx="3017520" cy="1097280"/>
          </a:xfrm>
          <a:prstGeom prst="rect">
            <a:avLst/>
          </a:prstGeom>
          <a:noFill/>
          <a:ln/>
        </p:spPr>
        <p:txBody>
          <a:bodyPr wrap="square" lIns="0" tIns="0" rIns="0" bIns="0" rtlCol="0" anchor="t"/>
          <a:lstStyle/>
          <a:p>
            <a:pPr algn="ctr" indent="0" marL="0">
              <a:buNone/>
            </a:pPr>
            <a:r>
              <a:rPr lang="en-US" sz="1500" dirty="0">
                <a:solidFill>
                  <a:schemeClr val="bg1"/>
                </a:solidFill>
                <a:latin typeface="Calibri" pitchFamily="34" charset="0"/>
                <a:ea typeface="Calibri" pitchFamily="34" charset="-122"/>
                <a:cs typeface="Calibri" pitchFamily="34" charset="-120"/>
              </a:rPr>
              <a:t>narrower predicted spread than the actual error (0.028 vs 0.158 kcal/mol)</a:t>
            </a:r>
            <a:endParaRPr lang="en-US" sz="1500" dirty="0"/>
          </a:p>
        </p:txBody>
      </p:sp>
      <p:sp>
        <p:nvSpPr>
          <p:cNvPr id="13" name="blip-why-panel"/>
          <p:cNvSpPr/>
          <p:nvPr/>
        </p:nvSpPr>
        <p:spPr>
          <a:xfrm>
            <a:off x="548640" y="4526280"/>
            <a:ext cx="11064240" cy="1097280"/>
          </a:xfrm>
          <a:prstGeom prst="roundRect">
            <a:avLst>
              <a:gd name="adj" fmla="val 6667"/>
            </a:avLst>
          </a:prstGeom>
          <a:solidFill>
            <a:schemeClr val="bg2"/>
          </a:solidFill>
          <a:ln/>
        </p:spPr>
      </p:sp>
      <p:sp>
        <p:nvSpPr>
          <p:cNvPr id="14" name="blip-why"/>
          <p:cNvSpPr txBox="1"/>
          <p:nvPr/>
        </p:nvSpPr>
        <p:spPr>
          <a:xfrm>
            <a:off x="822960" y="4526280"/>
            <a:ext cx="10515600" cy="10972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Why: </a:t>
            </a:r>
            <a:pPr indent="0" marL="0">
              <a:buNone/>
            </a:pPr>
            <a:r>
              <a:rPr lang="en-US" sz="1400" dirty="0">
                <a:solidFill>
                  <a:schemeClr val="tx1"/>
                </a:solidFill>
                <a:latin typeface="Calibri" pitchFamily="34" charset="0"/>
                <a:ea typeface="Calibri" pitchFamily="34" charset="-122"/>
                <a:cs typeface="Calibri" pitchFamily="34" charset="-120"/>
              </a:rPr>
              <a:t>MSE rewards accurate averages but never compares the predicted spread with the actual error, so nothing pushes the uncertainty to be honest. The planned fix was to train on a likelihood loss (NLL) that does.</a:t>
            </a:r>
            <a:endParaRPr lang="en-US" sz="1400" dirty="0"/>
          </a:p>
        </p:txBody>
      </p:sp>
      <p:sp>
        <p:nvSpPr>
          <p:cNvPr id="15" name="blip-footnote"/>
          <p:cNvSpPr txBox="1"/>
          <p:nvPr/>
        </p:nvSpPr>
        <p:spPr>
          <a:xfrm>
            <a:off x="548640" y="5806440"/>
            <a:ext cx="11064240" cy="41148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This run was trained from uncommitted code and needs a rerun. Uncertainty metric definitions are provisional until Dongxiao signs them off.</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85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NLL fix: training is now numerically stable</a:t>
            </a:r>
            <a:endParaRPr lang="en-US" sz="3000" dirty="0"/>
          </a:p>
        </p:txBody>
      </p:sp>
      <p:sp>
        <p:nvSpPr>
          <p:cNvPr id="3" name="Text 0"/>
          <p:cNvSpPr/>
          <p:nvPr>
            <p:ph idx="101" type="body" hasCustomPrompt="1"/>
          </p:nvPr>
        </p:nvSpPr>
        <p:spPr>
          <a:xfrm>
            <a:off x="548640" y="1097280"/>
            <a:ext cx="11064240" cy="411480"/>
          </a:xfrm>
          <a:prstGeom prst="rect">
            <a:avLst/>
          </a:prstGeom>
          <a:noFill/>
          <a:ln/>
        </p:spPr>
        <p:txBody>
          <a:bodyPr wrap="square" lIns="0" tIns="0" rIns="0" bIns="0" rtlCol="0" anchor="t"/>
          <a:lstStyle/>
          <a:p>
            <a:pPr algn="l" indent="0" marL="0">
              <a:buNone/>
            </a:pPr>
            <a:r>
              <a:rPr lang="en-US" sz="1500" i="1" dirty="0">
                <a:solidFill>
                  <a:schemeClr val="accent1"/>
                </a:solidFill>
                <a:latin typeface="Calibri" pitchFamily="34" charset="0"/>
                <a:ea typeface="Calibri" pitchFamily="34" charset="-122"/>
                <a:cs typeface="Calibri" pitchFamily="34" charset="-120"/>
              </a:rPr>
              <a:t>BLIP trains on MSE for 20 epochs, then switches to a likelihood loss that also scores its uncertainty</a:t>
            </a:r>
            <a:endParaRPr lang="en-US" sz="1500" dirty="0"/>
          </a:p>
        </p:txBody>
      </p:sp>
      <p:sp>
        <p:nvSpPr>
          <p:cNvPr id="4" name="nll-tile0"/>
          <p:cNvSpPr/>
          <p:nvPr/>
        </p:nvSpPr>
        <p:spPr>
          <a:xfrm>
            <a:off x="548640" y="1783080"/>
            <a:ext cx="5120640" cy="2514600"/>
          </a:xfrm>
          <a:prstGeom prst="roundRect">
            <a:avLst>
              <a:gd name="adj" fmla="val 2909"/>
            </a:avLst>
          </a:prstGeom>
          <a:solidFill>
            <a:schemeClr val="bg2"/>
          </a:solidFill>
          <a:ln/>
        </p:spPr>
      </p:sp>
      <p:sp>
        <p:nvSpPr>
          <p:cNvPr id="5" name="nll-head0"/>
          <p:cNvSpPr txBox="1"/>
          <p:nvPr/>
        </p:nvSpPr>
        <p:spPr>
          <a:xfrm>
            <a:off x="868680" y="1965960"/>
            <a:ext cx="4480560" cy="365760"/>
          </a:xfrm>
          <a:prstGeom prst="rect">
            <a:avLst/>
          </a:prstGeom>
          <a:noFill/>
          <a:ln/>
        </p:spPr>
        <p:txBody>
          <a:bodyPr wrap="square" lIns="0" tIns="0" rIns="0" bIns="0" rtlCol="0" anchor="t"/>
          <a:lstStyle/>
          <a:p>
            <a:pPr indent="0" marL="0">
              <a:buNone/>
            </a:pPr>
            <a:r>
              <a:rPr lang="en-US" sz="1600" b="1" dirty="0">
                <a:solidFill>
                  <a:srgbClr val="5B6B78"/>
                </a:solidFill>
                <a:latin typeface="Calibri" pitchFamily="34" charset="0"/>
                <a:ea typeface="Calibri" pitchFamily="34" charset="-122"/>
                <a:cs typeface="Calibri" pitchFamily="34" charset="-120"/>
              </a:rPr>
              <a:t>Before the fix</a:t>
            </a:r>
            <a:endParaRPr lang="en-US" sz="1600" dirty="0"/>
          </a:p>
        </p:txBody>
      </p:sp>
      <p:sp>
        <p:nvSpPr>
          <p:cNvPr id="6" name="nll-stat0"/>
          <p:cNvSpPr txBox="1"/>
          <p:nvPr/>
        </p:nvSpPr>
        <p:spPr>
          <a:xfrm>
            <a:off x="868680" y="2377440"/>
            <a:ext cx="4480560" cy="10058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~10⁸</a:t>
            </a:r>
            <a:endParaRPr lang="en-US" sz="5400" dirty="0"/>
          </a:p>
        </p:txBody>
      </p:sp>
      <p:sp>
        <p:nvSpPr>
          <p:cNvPr id="7" name="nll-label0"/>
          <p:cNvSpPr txBox="1"/>
          <p:nvPr/>
        </p:nvSpPr>
        <p:spPr>
          <a:xfrm>
            <a:off x="868680" y="3474720"/>
            <a:ext cx="4480560" cy="8229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loss at the switch to the likelihood loss; training blew up</a:t>
            </a:r>
            <a:endParaRPr lang="en-US" sz="1500" dirty="0"/>
          </a:p>
        </p:txBody>
      </p:sp>
      <p:sp>
        <p:nvSpPr>
          <p:cNvPr id="8" name="nll-tile1"/>
          <p:cNvSpPr/>
          <p:nvPr/>
        </p:nvSpPr>
        <p:spPr>
          <a:xfrm>
            <a:off x="6492240" y="1783080"/>
            <a:ext cx="5120640" cy="2514600"/>
          </a:xfrm>
          <a:prstGeom prst="roundRect">
            <a:avLst>
              <a:gd name="adj" fmla="val 2909"/>
            </a:avLst>
          </a:prstGeom>
          <a:solidFill>
            <a:schemeClr val="bg2"/>
          </a:solidFill>
          <a:ln/>
        </p:spPr>
      </p:sp>
      <p:sp>
        <p:nvSpPr>
          <p:cNvPr id="9" name="nll-head1"/>
          <p:cNvSpPr txBox="1"/>
          <p:nvPr/>
        </p:nvSpPr>
        <p:spPr>
          <a:xfrm>
            <a:off x="6812280" y="1965960"/>
            <a:ext cx="4480560" cy="365760"/>
          </a:xfrm>
          <a:prstGeom prst="rect">
            <a:avLst/>
          </a:prstGeom>
          <a:noFill/>
          <a:ln/>
        </p:spPr>
        <p:txBody>
          <a:bodyPr wrap="square" lIns="0" tIns="0" rIns="0" bIns="0" rtlCol="0" anchor="t"/>
          <a:lstStyle/>
          <a:p>
            <a:pPr indent="0" marL="0">
              <a:buNone/>
            </a:pPr>
            <a:r>
              <a:rPr lang="en-US" sz="1600" b="1" dirty="0">
                <a:solidFill>
                  <a:srgbClr val="5B6B78"/>
                </a:solidFill>
                <a:latin typeface="Calibri" pitchFamily="34" charset="0"/>
                <a:ea typeface="Calibri" pitchFamily="34" charset="-122"/>
                <a:cs typeface="Calibri" pitchFamily="34" charset="-120"/>
              </a:rPr>
              <a:t>After the fix</a:t>
            </a:r>
            <a:endParaRPr lang="en-US" sz="1600" dirty="0"/>
          </a:p>
        </p:txBody>
      </p:sp>
      <p:sp>
        <p:nvSpPr>
          <p:cNvPr id="10" name="nll-stat1"/>
          <p:cNvSpPr txBox="1"/>
          <p:nvPr/>
        </p:nvSpPr>
        <p:spPr>
          <a:xfrm>
            <a:off x="6812280" y="2377440"/>
            <a:ext cx="4480560" cy="1005840"/>
          </a:xfrm>
          <a:prstGeom prst="rect">
            <a:avLst/>
          </a:prstGeom>
          <a:noFill/>
          <a:ln/>
        </p:spPr>
        <p:txBody>
          <a:bodyPr wrap="square" lIns="0" tIns="0" rIns="0" bIns="0" rtlCol="0" anchor="ctr"/>
          <a:lstStyle/>
          <a:p>
            <a:pPr indent="0" marL="0">
              <a:buNone/>
            </a:pPr>
            <a:r>
              <a:rPr lang="en-US" sz="5400" b="1" dirty="0">
                <a:solidFill>
                  <a:schemeClr val="accent3"/>
                </a:solidFill>
                <a:latin typeface="Cambria" pitchFamily="34" charset="0"/>
                <a:ea typeface="Cambria" pitchFamily="34" charset="-122"/>
                <a:cs typeface="Cambria" pitchFamily="34" charset="-120"/>
              </a:rPr>
              <a:t>783 → 255</a:t>
            </a:r>
            <a:endParaRPr lang="en-US" sz="5400" dirty="0"/>
          </a:p>
        </p:txBody>
      </p:sp>
      <p:sp>
        <p:nvSpPr>
          <p:cNvPr id="11" name="nll-label1"/>
          <p:cNvSpPr txBox="1"/>
          <p:nvPr/>
        </p:nvSpPr>
        <p:spPr>
          <a:xfrm>
            <a:off x="6812280" y="3474720"/>
            <a:ext cx="4480560" cy="8229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validation loss across the switch at epoch 21; all 200 epochs completed</a:t>
            </a:r>
            <a:endParaRPr lang="en-US" sz="1500" dirty="0"/>
          </a:p>
        </p:txBody>
      </p:sp>
      <p:sp>
        <p:nvSpPr>
          <p:cNvPr id="12" name="nll-arrow"/>
          <p:cNvSpPr/>
          <p:nvPr/>
        </p:nvSpPr>
        <p:spPr>
          <a:xfrm>
            <a:off x="5806440" y="2807208"/>
            <a:ext cx="548640" cy="457200"/>
          </a:xfrm>
          <a:prstGeom prst="rightArrow">
            <a:avLst/>
          </a:prstGeom>
          <a:solidFill>
            <a:schemeClr val="accent5"/>
          </a:solidFill>
          <a:ln/>
        </p:spPr>
      </p:sp>
      <p:sp>
        <p:nvSpPr>
          <p:cNvPr id="13" name="nll-how-panel"/>
          <p:cNvSpPr/>
          <p:nvPr/>
        </p:nvSpPr>
        <p:spPr>
          <a:xfrm>
            <a:off x="548640" y="4526280"/>
            <a:ext cx="11064240" cy="1280160"/>
          </a:xfrm>
          <a:prstGeom prst="roundRect">
            <a:avLst>
              <a:gd name="adj" fmla="val 5714"/>
            </a:avLst>
          </a:prstGeom>
          <a:solidFill>
            <a:schemeClr val="tx2"/>
          </a:solidFill>
          <a:ln/>
        </p:spPr>
      </p:sp>
      <p:sp>
        <p:nvSpPr>
          <p:cNvPr id="14" name="nll-how"/>
          <p:cNvSpPr txBox="1"/>
          <p:nvPr/>
        </p:nvSpPr>
        <p:spPr>
          <a:xfrm>
            <a:off x="822960" y="4526280"/>
            <a:ext cx="10515600" cy="1280160"/>
          </a:xfrm>
          <a:prstGeom prst="rect">
            <a:avLst/>
          </a:prstGeom>
          <a:noFill/>
          <a:ln/>
        </p:spPr>
        <p:txBody>
          <a:bodyPr wrap="square" lIns="0" tIns="0" rIns="0" bIns="0" rtlCol="0" anchor="ctr"/>
          <a:lstStyle/>
          <a:p>
            <a:pPr indent="0" marL="0">
              <a:buNone/>
            </a:pPr>
            <a:r>
              <a:rPr lang="en-US" sz="1500" b="1" dirty="0">
                <a:solidFill>
                  <a:schemeClr val="accent4"/>
                </a:solidFill>
                <a:latin typeface="Calibri" pitchFamily="34" charset="0"/>
                <a:ea typeface="Calibri" pitchFamily="34" charset="-122"/>
                <a:cs typeface="Calibri" pitchFamily="34" charset="-120"/>
              </a:rPr>
              <a:t>How: </a:t>
            </a:r>
            <a:pPr indent="0" marL="0">
              <a:buNone/>
            </a:pPr>
            <a:r>
              <a:rPr lang="en-US" sz="1500" dirty="0">
                <a:solidFill>
                  <a:schemeClr val="bg1"/>
                </a:solidFill>
                <a:latin typeface="Calibri" pitchFamily="34" charset="0"/>
                <a:ea typeface="Calibri" pitchFamily="34" charset="-122"/>
                <a:cs typeface="Calibri" pitchFamily="34" charset="-120"/>
              </a:rPr>
              <a:t>a variance floor, set from the model's own validation error at the switch, is added to every predicted variance so the loss can't divide by almost zero. Keep an eye on that floor: it matters on the next two slides.</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85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But NLL training made the confidence worse, not better</a:t>
            </a:r>
            <a:endParaRPr lang="en-US" sz="3000" dirty="0"/>
          </a:p>
        </p:txBody>
      </p:sp>
      <p:sp>
        <p:nvSpPr>
          <p:cNvPr id="3" name="Text 0"/>
          <p:cNvSpPr/>
          <p:nvPr>
            <p:ph idx="101" type="body" hasCustomPrompt="1"/>
          </p:nvPr>
        </p:nvSpPr>
        <p:spPr>
          <a:xfrm>
            <a:off x="548640" y="1097280"/>
            <a:ext cx="11064240" cy="411480"/>
          </a:xfrm>
          <a:prstGeom prst="rect">
            <a:avLst/>
          </a:prstGeom>
          <a:noFill/>
          <a:ln/>
        </p:spPr>
        <p:txBody>
          <a:bodyPr wrap="square" lIns="0" tIns="0" rIns="0" bIns="0" rtlCol="0" anchor="t"/>
          <a:lstStyle/>
          <a:p>
            <a:pPr algn="l" indent="0" marL="0">
              <a:buNone/>
            </a:pPr>
            <a:r>
              <a:rPr lang="en-US" sz="1500" i="1" dirty="0">
                <a:solidFill>
                  <a:schemeClr val="accent1"/>
                </a:solidFill>
                <a:latin typeface="Calibri" pitchFamily="34" charset="0"/>
                <a:ea typeface="Calibri" pitchFamily="34" charset="-122"/>
                <a:cs typeface="Calibri" pitchFamily="34" charset="-120"/>
              </a:rPr>
              <a:t>Share of true energies inside each predicted interval: the bars should reach the target line</a:t>
            </a:r>
            <a:endParaRPr lang="en-US" sz="1500" dirty="0"/>
          </a:p>
        </p:txBody>
      </p:sp>
      <p:graphicFrame>
        <p:nvGraphicFramePr>
          <p:cNvPr id="4" name="chart-coverage" descr="Interval coverage, MSE vs NLL-trained BLIP"/>
          <p:cNvGraphicFramePr/>
          <p:nvPr/>
        </p:nvGraphicFramePr>
        <p:xfrm>
          <a:off x="548640" y="1691640"/>
          <a:ext cx="6858000" cy="4434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nll-table"/>
          <p:cNvGraphicFramePr>
            <a:graphicFrameLocks noGrp="1"/>
          </p:cNvGraphicFramePr>
          <p:nvPr>
            <p:extLst>
              <p:ext uri="{D42A27DB-BD31-4B8C-83A1-F6EECF244321}">
                <p14:modId xmlns:p14="http://schemas.microsoft.com/office/powerpoint/2010/main" val="1579011935"/>
              </p:ext>
            </p:extLst>
          </p:nvPr>
        </p:nvGraphicFramePr>
        <p:xfrm>
          <a:off x="7726680" y="1783080"/>
          <a:ext cx="3886200" cy="914400"/>
        </p:xfrm>
        <a:graphic>
          <a:graphicData uri="http://schemas.openxmlformats.org/drawingml/2006/table">
            <a:tbl>
              <a:tblPr/>
              <a:tblGrid>
                <a:gridCol w="1783080"/>
                <a:gridCol w="685800"/>
                <a:gridCol w="685800"/>
                <a:gridCol w="731520"/>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D1B2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MSE</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D1B2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NLL</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D1B2A"/>
                    </a:solidFill>
                  </a:tcPr>
                </a:tc>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D1B2A"/>
                    </a:solidFill>
                  </a:tcPr>
                </a:tc>
              </a:tr>
              <a:tr h="384048">
                <a:tc>
                  <a:txBody>
                    <a:bodyPr/>
                    <a:lstStyle/>
                    <a:p>
                      <a:pPr algn="l" indent="0" marL="0">
                        <a:buNone/>
                      </a:pPr>
                      <a:r>
                        <a:rPr lang="en-US" sz="1300" dirty="0">
                          <a:solidFill>
                            <a:srgbClr val="0D1B2A"/>
                          </a:solidFill>
                          <a:latin typeface="Calibri" pitchFamily="34" charset="0"/>
                          <a:ea typeface="Calibri" pitchFamily="34" charset="-122"/>
                          <a:cs typeface="Calibri" pitchFamily="34" charset="-120"/>
                        </a:rPr>
                        <a:t>Energy MAE</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ctr" indent="0" marL="0">
                        <a:buNone/>
                      </a:pPr>
                      <a:r>
                        <a:rPr lang="en-US" sz="1300" dirty="0">
                          <a:solidFill>
                            <a:srgbClr val="0D1B2A"/>
                          </a:solidFill>
                          <a:latin typeface="Calibri" pitchFamily="34" charset="0"/>
                          <a:ea typeface="Calibri" pitchFamily="34" charset="-122"/>
                          <a:cs typeface="Calibri" pitchFamily="34" charset="-120"/>
                        </a:rPr>
                        <a:t>0.158</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ctr" indent="0" marL="0">
                        <a:buNone/>
                      </a:pPr>
                      <a:r>
                        <a:rPr lang="en-US" sz="1300" b="1" dirty="0">
                          <a:solidFill>
                            <a:srgbClr val="0D1B2A"/>
                          </a:solidFill>
                          <a:latin typeface="Calibri" pitchFamily="34" charset="0"/>
                          <a:ea typeface="Calibri" pitchFamily="34" charset="-122"/>
                          <a:cs typeface="Calibri" pitchFamily="34" charset="-120"/>
                        </a:rPr>
                        <a:t>0.172</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ctr" indent="0" marL="0">
                        <a:buNone/>
                      </a:pPr>
                      <a:r>
                        <a:rPr lang="en-US" sz="1200" b="1" dirty="0">
                          <a:solidFill>
                            <a:srgbClr val="D9603C"/>
                          </a:solidFill>
                          <a:latin typeface="Calibri" pitchFamily="34" charset="0"/>
                          <a:ea typeface="Calibri" pitchFamily="34" charset="-122"/>
                          <a:cs typeface="Calibri" pitchFamily="34" charset="-120"/>
                        </a:rPr>
                        <a:t>worse</a:t>
                      </a:r>
                      <a:endParaRPr lang="en-US" sz="12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r>
              <a:tr h="384048">
                <a:tc>
                  <a:txBody>
                    <a:bodyPr/>
                    <a:lstStyle/>
                    <a:p>
                      <a:pPr algn="l" indent="0" marL="0">
                        <a:buNone/>
                      </a:pPr>
                      <a:r>
                        <a:rPr lang="en-US" sz="1300" dirty="0">
                          <a:solidFill>
                            <a:srgbClr val="0D1B2A"/>
                          </a:solidFill>
                          <a:latin typeface="Calibri" pitchFamily="34" charset="0"/>
                          <a:ea typeface="Calibri" pitchFamily="34" charset="-122"/>
                          <a:cs typeface="Calibri" pitchFamily="34" charset="-120"/>
                        </a:rPr>
                        <a:t>Force MAE</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ctr" indent="0" marL="0">
                        <a:buNone/>
                      </a:pPr>
                      <a:r>
                        <a:rPr lang="en-US" sz="1300" dirty="0">
                          <a:solidFill>
                            <a:srgbClr val="0D1B2A"/>
                          </a:solidFill>
                          <a:latin typeface="Calibri" pitchFamily="34" charset="0"/>
                          <a:ea typeface="Calibri" pitchFamily="34" charset="-122"/>
                          <a:cs typeface="Calibri" pitchFamily="34" charset="-120"/>
                        </a:rPr>
                        <a:t>0.206</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ctr" indent="0" marL="0">
                        <a:buNone/>
                      </a:pPr>
                      <a:r>
                        <a:rPr lang="en-US" sz="1300" b="1" dirty="0">
                          <a:solidFill>
                            <a:srgbClr val="0D1B2A"/>
                          </a:solidFill>
                          <a:latin typeface="Calibri" pitchFamily="34" charset="0"/>
                          <a:ea typeface="Calibri" pitchFamily="34" charset="-122"/>
                          <a:cs typeface="Calibri" pitchFamily="34" charset="-120"/>
                        </a:rPr>
                        <a:t>0.195</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ctr" indent="0" marL="0">
                        <a:buNone/>
                      </a:pPr>
                      <a:r>
                        <a:rPr lang="en-US" sz="1200" b="1" dirty="0">
                          <a:solidFill>
                            <a:srgbClr val="4C956C"/>
                          </a:solidFill>
                          <a:latin typeface="Calibri" pitchFamily="34" charset="0"/>
                          <a:ea typeface="Calibri" pitchFamily="34" charset="-122"/>
                          <a:cs typeface="Calibri" pitchFamily="34" charset="-120"/>
                        </a:rPr>
                        <a:t>better</a:t>
                      </a:r>
                      <a:endParaRPr lang="en-US" sz="12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r>
              <a:tr h="384048">
                <a:tc>
                  <a:txBody>
                    <a:bodyPr/>
                    <a:lstStyle/>
                    <a:p>
                      <a:pPr algn="l" indent="0" marL="0">
                        <a:buNone/>
                      </a:pPr>
                      <a:r>
                        <a:rPr lang="en-US" sz="1300" dirty="0">
                          <a:solidFill>
                            <a:srgbClr val="0D1B2A"/>
                          </a:solidFill>
                          <a:latin typeface="Calibri" pitchFamily="34" charset="0"/>
                          <a:ea typeface="Calibri" pitchFamily="34" charset="-122"/>
                          <a:cs typeface="Calibri" pitchFamily="34" charset="-120"/>
                        </a:rPr>
                        <a:t>Energy ECE</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ctr" indent="0" marL="0">
                        <a:buNone/>
                      </a:pPr>
                      <a:r>
                        <a:rPr lang="en-US" sz="1300" dirty="0">
                          <a:solidFill>
                            <a:srgbClr val="0D1B2A"/>
                          </a:solidFill>
                          <a:latin typeface="Calibri" pitchFamily="34" charset="0"/>
                          <a:ea typeface="Calibri" pitchFamily="34" charset="-122"/>
                          <a:cs typeface="Calibri" pitchFamily="34" charset="-120"/>
                        </a:rPr>
                        <a:t>0.70</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ctr" indent="0" marL="0">
                        <a:buNone/>
                      </a:pPr>
                      <a:r>
                        <a:rPr lang="en-US" sz="1300" b="1" dirty="0">
                          <a:solidFill>
                            <a:srgbClr val="0D1B2A"/>
                          </a:solidFill>
                          <a:latin typeface="Calibri" pitchFamily="34" charset="0"/>
                          <a:ea typeface="Calibri" pitchFamily="34" charset="-122"/>
                          <a:cs typeface="Calibri" pitchFamily="34" charset="-120"/>
                        </a:rPr>
                        <a:t>0.77</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ctr" indent="0" marL="0">
                        <a:buNone/>
                      </a:pPr>
                      <a:r>
                        <a:rPr lang="en-US" sz="1200" b="1" dirty="0">
                          <a:solidFill>
                            <a:srgbClr val="D9603C"/>
                          </a:solidFill>
                          <a:latin typeface="Calibri" pitchFamily="34" charset="0"/>
                          <a:ea typeface="Calibri" pitchFamily="34" charset="-122"/>
                          <a:cs typeface="Calibri" pitchFamily="34" charset="-120"/>
                        </a:rPr>
                        <a:t>worse</a:t>
                      </a:r>
                      <a:endParaRPr lang="en-US" sz="12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r>
              <a:tr h="384048">
                <a:tc>
                  <a:txBody>
                    <a:bodyPr/>
                    <a:lstStyle/>
                    <a:p>
                      <a:pPr algn="l" indent="0" marL="0">
                        <a:buNone/>
                      </a:pPr>
                      <a:r>
                        <a:rPr lang="en-US" sz="1300" dirty="0">
                          <a:solidFill>
                            <a:srgbClr val="0D1B2A"/>
                          </a:solidFill>
                          <a:latin typeface="Calibri" pitchFamily="34" charset="0"/>
                          <a:ea typeface="Calibri" pitchFamily="34" charset="-122"/>
                          <a:cs typeface="Calibri" pitchFamily="34" charset="-120"/>
                        </a:rPr>
                        <a:t>Energy Spearman</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ctr" indent="0" marL="0">
                        <a:buNone/>
                      </a:pPr>
                      <a:r>
                        <a:rPr lang="en-US" sz="1300" dirty="0">
                          <a:solidFill>
                            <a:srgbClr val="0D1B2A"/>
                          </a:solidFill>
                          <a:latin typeface="Calibri" pitchFamily="34" charset="0"/>
                          <a:ea typeface="Calibri" pitchFamily="34" charset="-122"/>
                          <a:cs typeface="Calibri" pitchFamily="34" charset="-120"/>
                        </a:rPr>
                        <a:t>0.005</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ctr" indent="0" marL="0">
                        <a:buNone/>
                      </a:pPr>
                      <a:r>
                        <a:rPr lang="en-US" sz="1300" b="1" dirty="0">
                          <a:solidFill>
                            <a:srgbClr val="0D1B2A"/>
                          </a:solidFill>
                          <a:latin typeface="Calibri" pitchFamily="34" charset="0"/>
                          <a:ea typeface="Calibri" pitchFamily="34" charset="-122"/>
                          <a:cs typeface="Calibri" pitchFamily="34" charset="-120"/>
                        </a:rPr>
                        <a:t>0.003</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ctr" indent="0" marL="0">
                        <a:buNone/>
                      </a:pPr>
                      <a:r>
                        <a:rPr lang="en-US" sz="1200" b="1" dirty="0">
                          <a:solidFill>
                            <a:srgbClr val="5B6B78"/>
                          </a:solidFill>
                          <a:latin typeface="Calibri" pitchFamily="34" charset="0"/>
                          <a:ea typeface="Calibri" pitchFamily="34" charset="-122"/>
                          <a:cs typeface="Calibri" pitchFamily="34" charset="-120"/>
                        </a:rPr>
                        <a:t>≈ same</a:t>
                      </a:r>
                      <a:endParaRPr lang="en-US" sz="12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r>
              <a:tr h="384048">
                <a:tc>
                  <a:txBody>
                    <a:bodyPr/>
                    <a:lstStyle/>
                    <a:p>
                      <a:pPr algn="l" indent="0" marL="0">
                        <a:buNone/>
                      </a:pPr>
                      <a:r>
                        <a:rPr lang="en-US" sz="1300" dirty="0">
                          <a:solidFill>
                            <a:srgbClr val="0D1B2A"/>
                          </a:solidFill>
                          <a:latin typeface="Calibri" pitchFamily="34" charset="0"/>
                          <a:ea typeface="Calibri" pitchFamily="34" charset="-122"/>
                          <a:cs typeface="Calibri" pitchFamily="34" charset="-120"/>
                        </a:rPr>
                        <a:t>Force Spearman</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ctr" indent="0" marL="0">
                        <a:buNone/>
                      </a:pPr>
                      <a:r>
                        <a:rPr lang="en-US" sz="1300" dirty="0">
                          <a:solidFill>
                            <a:srgbClr val="0D1B2A"/>
                          </a:solidFill>
                          <a:latin typeface="Calibri" pitchFamily="34" charset="0"/>
                          <a:ea typeface="Calibri" pitchFamily="34" charset="-122"/>
                          <a:cs typeface="Calibri" pitchFamily="34" charset="-120"/>
                        </a:rPr>
                        <a:t>0.27</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ctr" indent="0" marL="0">
                        <a:buNone/>
                      </a:pPr>
                      <a:r>
                        <a:rPr lang="en-US" sz="1300" b="1" dirty="0">
                          <a:solidFill>
                            <a:srgbClr val="0D1B2A"/>
                          </a:solidFill>
                          <a:latin typeface="Calibri" pitchFamily="34" charset="0"/>
                          <a:ea typeface="Calibri" pitchFamily="34" charset="-122"/>
                          <a:cs typeface="Calibri" pitchFamily="34" charset="-120"/>
                        </a:rPr>
                        <a:t>0.30</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ctr" indent="0" marL="0">
                        <a:buNone/>
                      </a:pPr>
                      <a:r>
                        <a:rPr lang="en-US" sz="1200" b="1" dirty="0">
                          <a:solidFill>
                            <a:srgbClr val="4C956C"/>
                          </a:solidFill>
                          <a:latin typeface="Calibri" pitchFamily="34" charset="0"/>
                          <a:ea typeface="Calibri" pitchFamily="34" charset="-122"/>
                          <a:cs typeface="Calibri" pitchFamily="34" charset="-120"/>
                        </a:rPr>
                        <a:t>better</a:t>
                      </a:r>
                      <a:endParaRPr lang="en-US" sz="12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r>
              <a:tr h="384048">
                <a:tc>
                  <a:txBody>
                    <a:bodyPr/>
                    <a:lstStyle/>
                    <a:p>
                      <a:pPr algn="l" indent="0" marL="0">
                        <a:buNone/>
                      </a:pPr>
                      <a:r>
                        <a:rPr lang="en-US" sz="1300" dirty="0">
                          <a:solidFill>
                            <a:srgbClr val="0D1B2A"/>
                          </a:solidFill>
                          <a:latin typeface="Calibri" pitchFamily="34" charset="0"/>
                          <a:ea typeface="Calibri" pitchFamily="34" charset="-122"/>
                          <a:cs typeface="Calibri" pitchFamily="34" charset="-120"/>
                        </a:rPr>
                        <a:t>Energy spread</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ctr" indent="0" marL="0">
                        <a:buNone/>
                      </a:pPr>
                      <a:r>
                        <a:rPr lang="en-US" sz="1300" dirty="0">
                          <a:solidFill>
                            <a:srgbClr val="0D1B2A"/>
                          </a:solidFill>
                          <a:latin typeface="Calibri" pitchFamily="34" charset="0"/>
                          <a:ea typeface="Calibri" pitchFamily="34" charset="-122"/>
                          <a:cs typeface="Calibri" pitchFamily="34" charset="-120"/>
                        </a:rPr>
                        <a:t>0.028</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ctr" indent="0" marL="0">
                        <a:buNone/>
                      </a:pPr>
                      <a:r>
                        <a:rPr lang="en-US" sz="1300" b="1" dirty="0">
                          <a:solidFill>
                            <a:srgbClr val="0D1B2A"/>
                          </a:solidFill>
                          <a:latin typeface="Calibri" pitchFamily="34" charset="0"/>
                          <a:ea typeface="Calibri" pitchFamily="34" charset="-122"/>
                          <a:cs typeface="Calibri" pitchFamily="34" charset="-120"/>
                        </a:rPr>
                        <a:t>0.013</a:t>
                      </a:r>
                      <a:endParaRPr lang="en-US" sz="13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algn="ctr" indent="0" marL="0">
                        <a:buNone/>
                      </a:pPr>
                      <a:r>
                        <a:rPr lang="en-US" sz="1200" b="1" dirty="0">
                          <a:solidFill>
                            <a:srgbClr val="D9603C"/>
                          </a:solidFill>
                          <a:latin typeface="Calibri" pitchFamily="34" charset="0"/>
                          <a:ea typeface="Calibri" pitchFamily="34" charset="-122"/>
                          <a:cs typeface="Calibri" pitchFamily="34" charset="-120"/>
                        </a:rPr>
                        <a:t>worse</a:t>
                      </a:r>
                      <a:endParaRPr lang="en-US" sz="1200" dirty="0">
                        <a:latin typeface="Calibri" charset="0"/>
                        <a:ea typeface="Calibri" charset="0"/>
                        <a:cs typeface="Calibri" charset="0"/>
                      </a:endParaRPr>
                    </a:p>
                  </a:txBody>
                  <a:tcPr marL="91440" marR="91440" marT="45720" marB="4572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r>
            </a:tbl>
          </a:graphicData>
        </a:graphic>
      </p:graphicFrame>
      <p:sp>
        <p:nvSpPr>
          <p:cNvPr id="6" name="nll-table-note"/>
          <p:cNvSpPr txBox="1"/>
          <p:nvPr/>
        </p:nvSpPr>
        <p:spPr>
          <a:xfrm>
            <a:off x="7726680" y="4617720"/>
            <a:ext cx="3886200" cy="146304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ECE: 0 is perfectly calibrated. Spearman: +1 means uncertainty tracks error. MAE in kcal/mol and kcal/mol/Å. Both runs scored on the same test data with 20 passes.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858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Likely cause: the variance floor drowns out the real error</a:t>
            </a:r>
            <a:endParaRPr lang="en-US" sz="3000" dirty="0"/>
          </a:p>
        </p:txBody>
      </p:sp>
      <p:sp>
        <p:nvSpPr>
          <p:cNvPr id="3" name="Text 0"/>
          <p:cNvSpPr/>
          <p:nvPr>
            <p:ph idx="101" type="body" hasCustomPrompt="1"/>
          </p:nvPr>
        </p:nvSpPr>
        <p:spPr>
          <a:xfrm>
            <a:off x="548640" y="1097280"/>
            <a:ext cx="11064240" cy="411480"/>
          </a:xfrm>
          <a:prstGeom prst="rect">
            <a:avLst/>
          </a:prstGeom>
          <a:noFill/>
          <a:ln/>
        </p:spPr>
        <p:txBody>
          <a:bodyPr wrap="square" lIns="0" tIns="0" rIns="0" bIns="0" rtlCol="0" anchor="t"/>
          <a:lstStyle/>
          <a:p>
            <a:pPr algn="l" indent="0" marL="0">
              <a:buNone/>
            </a:pPr>
            <a:r>
              <a:rPr lang="en-US" sz="1500" i="1" dirty="0">
                <a:solidFill>
                  <a:schemeClr val="accent6"/>
                </a:solidFill>
                <a:latin typeface="Calibri" pitchFamily="34" charset="0"/>
                <a:ea typeface="Calibri" pitchFamily="34" charset="-122"/>
                <a:cs typeface="Calibri" pitchFamily="34" charset="-120"/>
              </a:rPr>
              <a:t>Read from the committed run records; Dongxiao is checking it before we act on it</a:t>
            </a:r>
            <a:endParaRPr lang="en-US" sz="1500" dirty="0"/>
          </a:p>
        </p:txBody>
      </p:sp>
      <p:sp>
        <p:nvSpPr>
          <p:cNvPr id="4" name="floor-card"/>
          <p:cNvSpPr/>
          <p:nvPr/>
        </p:nvSpPr>
        <p:spPr>
          <a:xfrm>
            <a:off x="548640" y="1783080"/>
            <a:ext cx="3931920" cy="3657600"/>
          </a:xfrm>
          <a:prstGeom prst="roundRect">
            <a:avLst>
              <a:gd name="adj" fmla="val 2000"/>
            </a:avLst>
          </a:prstGeom>
          <a:solidFill>
            <a:schemeClr val="tx2"/>
          </a:solidFill>
          <a:ln/>
        </p:spPr>
      </p:sp>
      <p:sp>
        <p:nvSpPr>
          <p:cNvPr id="5" name="floor-stat"/>
          <p:cNvSpPr txBox="1"/>
          <p:nvPr/>
        </p:nvSpPr>
        <p:spPr>
          <a:xfrm>
            <a:off x="548640" y="2011680"/>
            <a:ext cx="3931920" cy="1188720"/>
          </a:xfrm>
          <a:prstGeom prst="rect">
            <a:avLst/>
          </a:prstGeom>
          <a:noFill/>
          <a:ln/>
        </p:spPr>
        <p:txBody>
          <a:bodyPr wrap="square" lIns="0" tIns="0" rIns="0" bIns="0" rtlCol="0" anchor="ctr"/>
          <a:lstStyle/>
          <a:p>
            <a:pPr algn="ctr" indent="0" marL="0">
              <a:buNone/>
            </a:pPr>
            <a:r>
              <a:rPr lang="en-US" sz="6600" b="1" dirty="0">
                <a:solidFill>
                  <a:schemeClr val="accent2"/>
                </a:solidFill>
                <a:latin typeface="Cambria" pitchFamily="34" charset="0"/>
                <a:ea typeface="Cambria" pitchFamily="34" charset="-122"/>
                <a:cs typeface="Cambria" pitchFamily="34" charset="-120"/>
              </a:rPr>
              <a:t>~600×</a:t>
            </a:r>
            <a:endParaRPr lang="en-US" sz="6600" dirty="0"/>
          </a:p>
        </p:txBody>
      </p:sp>
      <p:sp>
        <p:nvSpPr>
          <p:cNvPr id="6" name="floor-label"/>
          <p:cNvSpPr txBox="1"/>
          <p:nvPr/>
        </p:nvSpPr>
        <p:spPr>
          <a:xfrm>
            <a:off x="822960" y="3291840"/>
            <a:ext cx="3383280" cy="1463040"/>
          </a:xfrm>
          <a:prstGeom prst="rect">
            <a:avLst/>
          </a:prstGeom>
          <a:noFill/>
          <a:ln/>
        </p:spPr>
        <p:txBody>
          <a:bodyPr wrap="square" lIns="0" tIns="0" rIns="0" bIns="0" rtlCol="0" anchor="t"/>
          <a:lstStyle/>
          <a:p>
            <a:pPr algn="ctr" indent="0" marL="0">
              <a:buNone/>
            </a:pPr>
            <a:r>
              <a:rPr lang="en-US" sz="1500" dirty="0">
                <a:solidFill>
                  <a:schemeClr val="bg1"/>
                </a:solidFill>
                <a:latin typeface="Calibri" pitchFamily="34" charset="0"/>
                <a:ea typeface="Calibri" pitchFamily="34" charset="-122"/>
                <a:cs typeface="Calibri" pitchFamily="34" charset="-120"/>
              </a:rPr>
              <a:t>the energy variance floor (21.8) compared with the model's actual squared error at the end of training (0.036)</a:t>
            </a:r>
            <a:endParaRPr lang="en-US" sz="1500" dirty="0"/>
          </a:p>
        </p:txBody>
      </p:sp>
      <p:sp>
        <p:nvSpPr>
          <p:cNvPr id="7" name="floor-note"/>
          <p:cNvSpPr txBox="1"/>
          <p:nvPr/>
        </p:nvSpPr>
        <p:spPr>
          <a:xfrm>
            <a:off x="822960" y="4846320"/>
            <a:ext cx="3383280" cy="411480"/>
          </a:xfrm>
          <a:prstGeom prst="rect">
            <a:avLst/>
          </a:prstGeom>
          <a:noFill/>
          <a:ln/>
        </p:spPr>
        <p:txBody>
          <a:bodyPr wrap="square" lIns="0" tIns="0" rIns="0" bIns="0" rtlCol="0" anchor="t"/>
          <a:lstStyle/>
          <a:p>
            <a:pPr algn="ctr" indent="0" marL="0">
              <a:buNone/>
            </a:pPr>
            <a:r>
              <a:rPr lang="en-US" sz="1400" b="1" dirty="0">
                <a:solidFill>
                  <a:schemeClr val="accent6"/>
                </a:solidFill>
                <a:latin typeface="Calibri" pitchFamily="34" charset="0"/>
                <a:ea typeface="Calibri" pitchFamily="34" charset="-122"/>
                <a:cs typeface="Calibri" pitchFamily="34" charset="-120"/>
              </a:rPr>
              <a:t>Set once at epoch 20, never updated</a:t>
            </a:r>
            <a:endParaRPr lang="en-US" sz="1400" dirty="0"/>
          </a:p>
        </p:txBody>
      </p:sp>
      <p:sp>
        <p:nvSpPr>
          <p:cNvPr id="8" name="cause1-circle"/>
          <p:cNvSpPr/>
          <p:nvPr/>
        </p:nvSpPr>
        <p:spPr>
          <a:xfrm>
            <a:off x="4846320" y="1828800"/>
            <a:ext cx="502920" cy="502920"/>
          </a:xfrm>
          <a:prstGeom prst="ellipse">
            <a:avLst/>
          </a:prstGeom>
          <a:solidFill>
            <a:schemeClr val="accent1"/>
          </a:solidFill>
          <a:ln/>
        </p:spPr>
      </p:sp>
      <p:sp>
        <p:nvSpPr>
          <p:cNvPr id="9" name="cause1-num"/>
          <p:cNvSpPr txBox="1"/>
          <p:nvPr/>
        </p:nvSpPr>
        <p:spPr>
          <a:xfrm>
            <a:off x="4846320" y="182880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1</a:t>
            </a:r>
            <a:endParaRPr lang="en-US" sz="1700" dirty="0"/>
          </a:p>
        </p:txBody>
      </p:sp>
      <p:sp>
        <p:nvSpPr>
          <p:cNvPr id="10" name="cause1-title"/>
          <p:cNvSpPr txBox="1"/>
          <p:nvPr/>
        </p:nvSpPr>
        <p:spPr>
          <a:xfrm>
            <a:off x="5577840" y="1783080"/>
            <a:ext cx="6035040" cy="384048"/>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The loss stops seeing the error</a:t>
            </a:r>
            <a:endParaRPr lang="en-US" sz="1700" dirty="0"/>
          </a:p>
        </p:txBody>
      </p:sp>
      <p:sp>
        <p:nvSpPr>
          <p:cNvPr id="11" name="cause1-text"/>
          <p:cNvSpPr txBox="1"/>
          <p:nvPr/>
        </p:nvSpPr>
        <p:spPr>
          <a:xfrm>
            <a:off x="5577840" y="2194560"/>
            <a:ext cx="6035040" cy="777240"/>
          </a:xfrm>
          <a:prstGeom prst="rect">
            <a:avLst/>
          </a:prstGeom>
          <a:noFill/>
          <a:ln/>
        </p:spPr>
        <p:txBody>
          <a:bodyPr wrap="square" lIns="0" tIns="0" rIns="0" bIns="0" rtlCol="0" anchor="t"/>
          <a:lstStyle/>
          <a:p>
            <a:pPr indent="0" marL="0">
              <a:buNone/>
            </a:pPr>
            <a:r>
              <a:rPr lang="en-US" sz="1400" dirty="0">
                <a:solidFill>
                  <a:srgbClr val="D7E3EC"/>
                </a:solidFill>
                <a:latin typeface="Calibri" pitchFamily="34" charset="0"/>
                <a:ea typeface="Calibri" pitchFamily="34" charset="-122"/>
                <a:cs typeface="Calibri" pitchFamily="34" charset="-120"/>
              </a:rPr>
              <a:t>The logged energy loss settles at 2.46, within 0.001 of the floor's own constant 0.5·ln(2π·21.78). The actual error adds almost nothing.</a:t>
            </a:r>
            <a:endParaRPr lang="en-US" sz="1400" dirty="0"/>
          </a:p>
        </p:txBody>
      </p:sp>
      <p:sp>
        <p:nvSpPr>
          <p:cNvPr id="12" name="cause2-circle"/>
          <p:cNvSpPr/>
          <p:nvPr/>
        </p:nvSpPr>
        <p:spPr>
          <a:xfrm>
            <a:off x="4846320" y="3090672"/>
            <a:ext cx="502920" cy="502920"/>
          </a:xfrm>
          <a:prstGeom prst="ellipse">
            <a:avLst/>
          </a:prstGeom>
          <a:solidFill>
            <a:schemeClr val="accent1"/>
          </a:solidFill>
          <a:ln/>
        </p:spPr>
      </p:sp>
      <p:sp>
        <p:nvSpPr>
          <p:cNvPr id="13" name="cause2-num"/>
          <p:cNvSpPr txBox="1"/>
          <p:nvPr/>
        </p:nvSpPr>
        <p:spPr>
          <a:xfrm>
            <a:off x="4846320" y="3090672"/>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2</a:t>
            </a:r>
            <a:endParaRPr lang="en-US" sz="1700" dirty="0"/>
          </a:p>
        </p:txBody>
      </p:sp>
      <p:sp>
        <p:nvSpPr>
          <p:cNvPr id="14" name="cause2-title"/>
          <p:cNvSpPr txBox="1"/>
          <p:nvPr/>
        </p:nvSpPr>
        <p:spPr>
          <a:xfrm>
            <a:off x="5577840" y="3044952"/>
            <a:ext cx="6035040" cy="384048"/>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So it shrinks the model's own spread</a:t>
            </a:r>
            <a:endParaRPr lang="en-US" sz="1700" dirty="0"/>
          </a:p>
        </p:txBody>
      </p:sp>
      <p:sp>
        <p:nvSpPr>
          <p:cNvPr id="15" name="cause2-text"/>
          <p:cNvSpPr txBox="1"/>
          <p:nvPr/>
        </p:nvSpPr>
        <p:spPr>
          <a:xfrm>
            <a:off x="5577840" y="3456432"/>
            <a:ext cx="6035040" cy="777240"/>
          </a:xfrm>
          <a:prstGeom prst="rect">
            <a:avLst/>
          </a:prstGeom>
          <a:noFill/>
          <a:ln/>
        </p:spPr>
        <p:txBody>
          <a:bodyPr wrap="square" lIns="0" tIns="0" rIns="0" bIns="0" rtlCol="0" anchor="t"/>
          <a:lstStyle/>
          <a:p>
            <a:pPr indent="0" marL="0">
              <a:buNone/>
            </a:pPr>
            <a:r>
              <a:rPr lang="en-US" sz="1400" dirty="0">
                <a:solidFill>
                  <a:srgbClr val="D7E3EC"/>
                </a:solidFill>
                <a:latin typeface="Calibri" pitchFamily="34" charset="0"/>
                <a:ea typeface="Calibri" pitchFamily="34" charset="-122"/>
                <a:cs typeface="Calibri" pitchFamily="34" charset="-120"/>
              </a:rPr>
              <a:t>With total variance already above the error, the gradient pushes BLIP's uncertainty down: predicted spread halved and coverage fell to 2%.</a:t>
            </a:r>
            <a:endParaRPr lang="en-US" sz="1400" dirty="0"/>
          </a:p>
        </p:txBody>
      </p:sp>
      <p:sp>
        <p:nvSpPr>
          <p:cNvPr id="16" name="cause3-circle"/>
          <p:cNvSpPr/>
          <p:nvPr/>
        </p:nvSpPr>
        <p:spPr>
          <a:xfrm>
            <a:off x="4846320" y="4352544"/>
            <a:ext cx="502920" cy="502920"/>
          </a:xfrm>
          <a:prstGeom prst="ellipse">
            <a:avLst/>
          </a:prstGeom>
          <a:solidFill>
            <a:schemeClr val="accent1"/>
          </a:solidFill>
          <a:ln/>
        </p:spPr>
      </p:sp>
      <p:sp>
        <p:nvSpPr>
          <p:cNvPr id="17" name="cause3-num"/>
          <p:cNvSpPr txBox="1"/>
          <p:nvPr/>
        </p:nvSpPr>
        <p:spPr>
          <a:xfrm>
            <a:off x="4846320" y="4352544"/>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3</a:t>
            </a:r>
            <a:endParaRPr lang="en-US" sz="1700" dirty="0"/>
          </a:p>
        </p:txBody>
      </p:sp>
      <p:sp>
        <p:nvSpPr>
          <p:cNvPr id="18" name="cause3-title"/>
          <p:cNvSpPr txBox="1"/>
          <p:nvPr/>
        </p:nvSpPr>
        <p:spPr>
          <a:xfrm>
            <a:off x="5577840" y="4306824"/>
            <a:ext cx="6035040" cy="384048"/>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And energy loses weight</a:t>
            </a:r>
            <a:endParaRPr lang="en-US" sz="1700" dirty="0"/>
          </a:p>
        </p:txBody>
      </p:sp>
      <p:sp>
        <p:nvSpPr>
          <p:cNvPr id="19" name="cause3-text"/>
          <p:cNvSpPr txBox="1"/>
          <p:nvPr/>
        </p:nvSpPr>
        <p:spPr>
          <a:xfrm>
            <a:off x="5577840" y="4718304"/>
            <a:ext cx="6035040" cy="777240"/>
          </a:xfrm>
          <a:prstGeom prst="rect">
            <a:avLst/>
          </a:prstGeom>
          <a:noFill/>
          <a:ln/>
        </p:spPr>
        <p:txBody>
          <a:bodyPr wrap="square" lIns="0" tIns="0" rIns="0" bIns="0" rtlCol="0" anchor="t"/>
          <a:lstStyle/>
          <a:p>
            <a:pPr indent="0" marL="0">
              <a:buNone/>
            </a:pPr>
            <a:r>
              <a:rPr lang="en-US" sz="1400" dirty="0">
                <a:solidFill>
                  <a:srgbClr val="D7E3EC"/>
                </a:solidFill>
                <a:latin typeface="Calibri" pitchFamily="34" charset="0"/>
                <a:ea typeface="Calibri" pitchFamily="34" charset="-122"/>
                <a:cs typeface="Calibri" pitchFamily="34" charset="-120"/>
              </a:rPr>
              <a:t>Energy gets about 3× less weight relative to forces than under MSE, matching energy error rising while force error fell.</a:t>
            </a:r>
            <a:endParaRPr lang="en-US" sz="1400" dirty="0"/>
          </a:p>
        </p:txBody>
      </p:sp>
      <p:sp>
        <p:nvSpPr>
          <p:cNvPr id="20" name="cause-summary"/>
          <p:cNvSpPr txBox="1"/>
          <p:nvPr/>
        </p:nvSpPr>
        <p:spPr>
          <a:xfrm>
            <a:off x="548640" y="5623560"/>
            <a:ext cx="11064240" cy="548640"/>
          </a:xfrm>
          <a:prstGeom prst="rect">
            <a:avLst/>
          </a:prstGeom>
          <a:noFill/>
          <a:ln/>
        </p:spPr>
        <p:txBody>
          <a:bodyPr wrap="square" lIns="0" tIns="0" rIns="0" bIns="0" rtlCol="0" anchor="ctr"/>
          <a:lstStyle/>
          <a:p>
            <a:pPr indent="0" marL="0">
              <a:buNone/>
            </a:pPr>
            <a:r>
              <a:rPr lang="en-US" sz="1500" b="1" dirty="0">
                <a:solidFill>
                  <a:schemeClr val="accent4"/>
                </a:solidFill>
                <a:latin typeface="Calibri" pitchFamily="34" charset="0"/>
                <a:ea typeface="Calibri" pitchFamily="34" charset="-122"/>
                <a:cs typeface="Calibri" pitchFamily="34" charset="-120"/>
              </a:rPr>
              <a:t>The fix stopped the crash by making the loss nearly inert. </a:t>
            </a:r>
            <a:pPr indent="0" marL="0">
              <a:buNone/>
            </a:pPr>
            <a:r>
              <a:rPr lang="en-US" sz="1500" dirty="0">
                <a:solidFill>
                  <a:schemeClr val="bg1"/>
                </a:solidFill>
                <a:latin typeface="Calibri" pitchFamily="34" charset="0"/>
                <a:ea typeface="Calibri" pitchFamily="34" charset="-122"/>
                <a:cs typeface="Calibri" pitchFamily="34" charset="-120"/>
              </a:rPr>
              <a:t>Next: a floor that is small relative to the error, or one that decays after the switch.</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A29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Next steps</a:t>
            </a:r>
            <a:endParaRPr lang="en-US" sz="3000" dirty="0"/>
          </a:p>
        </p:txBody>
      </p:sp>
      <p:sp>
        <p:nvSpPr>
          <p:cNvPr id="3" name="Text 0"/>
          <p:cNvSpPr/>
          <p:nvPr>
            <p:ph idx="101" type="body" hasCustomPrompt="1"/>
          </p:nvPr>
        </p:nvSpPr>
        <p:spPr>
          <a:xfrm>
            <a:off x="548640" y="1097280"/>
            <a:ext cx="11064240" cy="411480"/>
          </a:xfrm>
          <a:prstGeom prst="rect">
            <a:avLst/>
          </a:prstGeom>
          <a:noFill/>
          <a:ln/>
        </p:spPr>
        <p:txBody>
          <a:bodyPr wrap="square" lIns="0" tIns="0" rIns="0" bIns="0" rtlCol="0" anchor="t"/>
          <a:lstStyle/>
          <a:p>
            <a:pPr algn="l" indent="0" marL="0">
              <a:buNone/>
            </a:pPr>
            <a:r>
              <a:rPr lang="en-US" sz="1500" i="1" dirty="0">
                <a:solidFill>
                  <a:schemeClr val="accent1"/>
                </a:solidFill>
                <a:latin typeface="Calibri" pitchFamily="34" charset="0"/>
                <a:ea typeface="Calibri" pitchFamily="34" charset="-122"/>
                <a:cs typeface="Calibri" pitchFamily="34" charset="-120"/>
              </a:rPr>
              <a:t>Phase 3 needs a calibrated Phase 2 baseline to be compared against</a:t>
            </a:r>
            <a:endParaRPr lang="en-US" sz="1500" dirty="0"/>
          </a:p>
        </p:txBody>
      </p:sp>
      <p:sp>
        <p:nvSpPr>
          <p:cNvPr id="4" name="next1-card"/>
          <p:cNvSpPr/>
          <p:nvPr/>
        </p:nvSpPr>
        <p:spPr>
          <a:xfrm>
            <a:off x="548640" y="1783080"/>
            <a:ext cx="5440680" cy="1783080"/>
          </a:xfrm>
          <a:prstGeom prst="roundRect">
            <a:avLst>
              <a:gd name="adj" fmla="val 4103"/>
            </a:avLst>
          </a:prstGeom>
          <a:solidFill>
            <a:schemeClr val="bg2"/>
          </a:solidFill>
          <a:ln/>
        </p:spPr>
      </p:sp>
      <p:sp>
        <p:nvSpPr>
          <p:cNvPr id="5" name="next1-circle"/>
          <p:cNvSpPr/>
          <p:nvPr/>
        </p:nvSpPr>
        <p:spPr>
          <a:xfrm>
            <a:off x="822960" y="2057400"/>
            <a:ext cx="502920" cy="502920"/>
          </a:xfrm>
          <a:prstGeom prst="ellipse">
            <a:avLst/>
          </a:prstGeom>
          <a:solidFill>
            <a:schemeClr val="accent1"/>
          </a:solidFill>
          <a:ln/>
        </p:spPr>
      </p:sp>
      <p:sp>
        <p:nvSpPr>
          <p:cNvPr id="6" name="next1-num"/>
          <p:cNvSpPr txBox="1"/>
          <p:nvPr/>
        </p:nvSpPr>
        <p:spPr>
          <a:xfrm>
            <a:off x="822960" y="205740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1</a:t>
            </a:r>
            <a:endParaRPr lang="en-US" sz="1700" dirty="0"/>
          </a:p>
        </p:txBody>
      </p:sp>
      <p:sp>
        <p:nvSpPr>
          <p:cNvPr id="7" name="next1-title"/>
          <p:cNvSpPr txBox="1"/>
          <p:nvPr/>
        </p:nvSpPr>
        <p:spPr>
          <a:xfrm>
            <a:off x="1508760" y="2057400"/>
            <a:ext cx="4251960" cy="50292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Fix the variance floor</a:t>
            </a:r>
            <a:endParaRPr lang="en-US" sz="1700" dirty="0"/>
          </a:p>
        </p:txBody>
      </p:sp>
      <p:sp>
        <p:nvSpPr>
          <p:cNvPr id="8" name="next1-text"/>
          <p:cNvSpPr txBox="1"/>
          <p:nvPr/>
        </p:nvSpPr>
        <p:spPr>
          <a:xfrm>
            <a:off x="1508760" y="2606040"/>
            <a:ext cx="4251960"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Keep it small relative to the error, or decay it after the switch. Then rerun BLIP from a clean commit on the newly merged harness.</a:t>
            </a:r>
            <a:endParaRPr lang="en-US" sz="1400" dirty="0"/>
          </a:p>
        </p:txBody>
      </p:sp>
      <p:sp>
        <p:nvSpPr>
          <p:cNvPr id="9" name="next2-card"/>
          <p:cNvSpPr/>
          <p:nvPr/>
        </p:nvSpPr>
        <p:spPr>
          <a:xfrm>
            <a:off x="6172200" y="1783080"/>
            <a:ext cx="5440680" cy="1783080"/>
          </a:xfrm>
          <a:prstGeom prst="roundRect">
            <a:avLst>
              <a:gd name="adj" fmla="val 4103"/>
            </a:avLst>
          </a:prstGeom>
          <a:solidFill>
            <a:schemeClr val="bg2"/>
          </a:solidFill>
          <a:ln/>
        </p:spPr>
      </p:sp>
      <p:sp>
        <p:nvSpPr>
          <p:cNvPr id="10" name="next2-circle"/>
          <p:cNvSpPr/>
          <p:nvPr/>
        </p:nvSpPr>
        <p:spPr>
          <a:xfrm>
            <a:off x="6446520" y="2057400"/>
            <a:ext cx="502920" cy="502920"/>
          </a:xfrm>
          <a:prstGeom prst="ellipse">
            <a:avLst/>
          </a:prstGeom>
          <a:solidFill>
            <a:schemeClr val="accent1"/>
          </a:solidFill>
          <a:ln/>
        </p:spPr>
      </p:sp>
      <p:sp>
        <p:nvSpPr>
          <p:cNvPr id="11" name="next2-num"/>
          <p:cNvSpPr txBox="1"/>
          <p:nvPr/>
        </p:nvSpPr>
        <p:spPr>
          <a:xfrm>
            <a:off x="6446520" y="205740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2</a:t>
            </a:r>
            <a:endParaRPr lang="en-US" sz="1700" dirty="0"/>
          </a:p>
        </p:txBody>
      </p:sp>
      <p:sp>
        <p:nvSpPr>
          <p:cNvPr id="12" name="next2-title"/>
          <p:cNvSpPr txBox="1"/>
          <p:nvPr/>
        </p:nvSpPr>
        <p:spPr>
          <a:xfrm>
            <a:off x="7132320" y="2057400"/>
            <a:ext cx="4251960" cy="50292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Sign off the uncertainty metrics</a:t>
            </a:r>
            <a:endParaRPr lang="en-US" sz="1700" dirty="0"/>
          </a:p>
        </p:txBody>
      </p:sp>
      <p:sp>
        <p:nvSpPr>
          <p:cNvPr id="13" name="next2-text"/>
          <p:cNvSpPr txBox="1"/>
          <p:nvPr/>
        </p:nvSpPr>
        <p:spPr>
          <a:xfrm>
            <a:off x="7132320" y="2606040"/>
            <a:ext cx="4251960"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Dongxiao confirms the ECE binning, NLL versus CRPS, and the correlation convention.</a:t>
            </a:r>
            <a:endParaRPr lang="en-US" sz="1400" dirty="0"/>
          </a:p>
        </p:txBody>
      </p:sp>
      <p:sp>
        <p:nvSpPr>
          <p:cNvPr id="14" name="next3-card"/>
          <p:cNvSpPr/>
          <p:nvPr/>
        </p:nvSpPr>
        <p:spPr>
          <a:xfrm>
            <a:off x="548640" y="3749040"/>
            <a:ext cx="5440680" cy="1783080"/>
          </a:xfrm>
          <a:prstGeom prst="roundRect">
            <a:avLst>
              <a:gd name="adj" fmla="val 4103"/>
            </a:avLst>
          </a:prstGeom>
          <a:solidFill>
            <a:schemeClr val="bg2"/>
          </a:solidFill>
          <a:ln/>
        </p:spPr>
      </p:sp>
      <p:sp>
        <p:nvSpPr>
          <p:cNvPr id="15" name="next3-circle"/>
          <p:cNvSpPr/>
          <p:nvPr/>
        </p:nvSpPr>
        <p:spPr>
          <a:xfrm>
            <a:off x="822960" y="4023360"/>
            <a:ext cx="502920" cy="502920"/>
          </a:xfrm>
          <a:prstGeom prst="ellipse">
            <a:avLst/>
          </a:prstGeom>
          <a:solidFill>
            <a:schemeClr val="accent1"/>
          </a:solidFill>
          <a:ln/>
        </p:spPr>
      </p:sp>
      <p:sp>
        <p:nvSpPr>
          <p:cNvPr id="16" name="next3-num"/>
          <p:cNvSpPr txBox="1"/>
          <p:nvPr/>
        </p:nvSpPr>
        <p:spPr>
          <a:xfrm>
            <a:off x="822960" y="402336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3</a:t>
            </a:r>
            <a:endParaRPr lang="en-US" sz="1700" dirty="0"/>
          </a:p>
        </p:txBody>
      </p:sp>
      <p:sp>
        <p:nvSpPr>
          <p:cNvPr id="17" name="next3-title"/>
          <p:cNvSpPr txBox="1"/>
          <p:nvPr/>
        </p:nvSpPr>
        <p:spPr>
          <a:xfrm>
            <a:off x="1508760" y="4023360"/>
            <a:ext cx="4251960" cy="50292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Repeat seeds for close models</a:t>
            </a:r>
            <a:endParaRPr lang="en-US" sz="1700" dirty="0"/>
          </a:p>
        </p:txBody>
      </p:sp>
      <p:sp>
        <p:nvSpPr>
          <p:cNvPr id="18" name="next3-text"/>
          <p:cNvSpPr txBox="1"/>
          <p:nvPr/>
        </p:nvSpPr>
        <p:spPr>
          <a:xfrm>
            <a:off x="1508760" y="4572000"/>
            <a:ext cx="4251960"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Settle PaiNN against DimeNet++ before ranking them in the report.</a:t>
            </a:r>
            <a:endParaRPr lang="en-US" sz="1400" dirty="0"/>
          </a:p>
        </p:txBody>
      </p:sp>
      <p:sp>
        <p:nvSpPr>
          <p:cNvPr id="19" name="next4-card"/>
          <p:cNvSpPr/>
          <p:nvPr/>
        </p:nvSpPr>
        <p:spPr>
          <a:xfrm>
            <a:off x="6172200" y="3749040"/>
            <a:ext cx="5440680" cy="1783080"/>
          </a:xfrm>
          <a:prstGeom prst="roundRect">
            <a:avLst>
              <a:gd name="adj" fmla="val 4103"/>
            </a:avLst>
          </a:prstGeom>
          <a:solidFill>
            <a:schemeClr val="bg2"/>
          </a:solidFill>
          <a:ln/>
        </p:spPr>
      </p:sp>
      <p:sp>
        <p:nvSpPr>
          <p:cNvPr id="20" name="next4-circle"/>
          <p:cNvSpPr/>
          <p:nvPr/>
        </p:nvSpPr>
        <p:spPr>
          <a:xfrm>
            <a:off x="6446520" y="4023360"/>
            <a:ext cx="502920" cy="502920"/>
          </a:xfrm>
          <a:prstGeom prst="ellipse">
            <a:avLst/>
          </a:prstGeom>
          <a:solidFill>
            <a:schemeClr val="accent1"/>
          </a:solidFill>
          <a:ln/>
        </p:spPr>
      </p:sp>
      <p:sp>
        <p:nvSpPr>
          <p:cNvPr id="21" name="next4-num"/>
          <p:cNvSpPr txBox="1"/>
          <p:nvPr/>
        </p:nvSpPr>
        <p:spPr>
          <a:xfrm>
            <a:off x="6446520" y="402336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4</a:t>
            </a:r>
            <a:endParaRPr lang="en-US" sz="1700" dirty="0"/>
          </a:p>
        </p:txBody>
      </p:sp>
      <p:sp>
        <p:nvSpPr>
          <p:cNvPr id="22" name="next4-title"/>
          <p:cNvSpPr txBox="1"/>
          <p:nvPr/>
        </p:nvSpPr>
        <p:spPr>
          <a:xfrm>
            <a:off x="7132320" y="4023360"/>
            <a:ext cx="4251960" cy="50292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Phase 3: graph-space stochasticity</a:t>
            </a:r>
            <a:endParaRPr lang="en-US" sz="1700" dirty="0"/>
          </a:p>
        </p:txBody>
      </p:sp>
      <p:sp>
        <p:nvSpPr>
          <p:cNvPr id="23" name="next4-text"/>
          <p:cNvSpPr txBox="1"/>
          <p:nvPr/>
        </p:nvSpPr>
        <p:spPr>
          <a:xfrm>
            <a:off x="7132320" y="4572000"/>
            <a:ext cx="4251960"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First model draft is committed. It will be scored by the same harness against Phases 1 and 2.</a:t>
            </a:r>
            <a:endParaRPr lang="en-US" sz="1400" dirty="0"/>
          </a:p>
        </p:txBody>
      </p:sp>
      <p:sp>
        <p:nvSpPr>
          <p:cNvPr id="24" name="next-data"/>
          <p:cNvSpPr txBox="1"/>
          <p:nvPr/>
        </p:nvSpPr>
        <p:spPr>
          <a:xfrm>
            <a:off x="548640" y="5760720"/>
            <a:ext cx="11064240" cy="411480"/>
          </a:xfrm>
          <a:prstGeom prst="rect">
            <a:avLst/>
          </a:prstGeom>
          <a:noFill/>
          <a:ln/>
        </p:spPr>
        <p:txBody>
          <a:bodyPr wrap="square" lIns="0" tIns="0" rIns="0" bIns="0" rtlCol="0" anchor="t"/>
          <a:lstStyle/>
          <a:p>
            <a:pPr indent="0" marL="0">
              <a:buNone/>
            </a:pPr>
            <a:r>
              <a:rPr lang="en-US" sz="1400" b="1" dirty="0">
                <a:solidFill>
                  <a:srgbClr val="5B6B78"/>
                </a:solidFill>
                <a:latin typeface="Calibri" pitchFamily="34" charset="0"/>
                <a:ea typeface="Calibri" pitchFamily="34" charset="-122"/>
                <a:cs typeface="Calibri" pitchFamily="34" charset="-120"/>
              </a:rPr>
              <a:t>Open data question: </a:t>
            </a:r>
            <a:pPr indent="0" marL="0">
              <a:buNone/>
            </a:pPr>
            <a:r>
              <a:rPr lang="en-US" sz="1400" dirty="0">
                <a:solidFill>
                  <a:srgbClr val="5B6B78"/>
                </a:solidFill>
                <a:latin typeface="Calibri" pitchFamily="34" charset="0"/>
                <a:ea typeface="Calibri" pitchFamily="34" charset="-122"/>
                <a:cs typeface="Calibri" pitchFamily="34" charset="-120"/>
              </a:rPr>
              <a:t>choose the cutoff radius deliberately before any model is trained on MD22.</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858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PG-S2-47 Demo">
  <a:themeElements>
    <a:clrScheme name="PG-S2-47 Demo">
      <a:dk1>
        <a:srgbClr val="0D1B2A"/>
      </a:dk1>
      <a:lt1>
        <a:srgbClr val="FFFFFF"/>
      </a:lt1>
      <a:dk2>
        <a:srgbClr val="1B263B"/>
      </a:dk2>
      <a:lt2>
        <a:srgbClr val="EEF2F6"/>
      </a:lt2>
      <a:accent1>
        <a:srgbClr val="1F7FB6"/>
      </a:accent1>
      <a:accent2>
        <a:srgbClr val="D9603C"/>
      </a:accent2>
      <a:accent3>
        <a:srgbClr val="4C956C"/>
      </a:accent3>
      <a:accent4>
        <a:srgbClr val="F2C14E"/>
      </a:accent4>
      <a:accent5>
        <a:srgbClr val="8AA29E"/>
      </a:accent5>
      <a:accent6>
        <a:srgbClr val="5FA8D3"/>
      </a:accent6>
      <a:hlink>
        <a:srgbClr val="1F7FB6"/>
      </a:hlink>
      <a:folHlink>
        <a:srgbClr val="6F8580"/>
      </a:folHlink>
    </a:clrScheme>
    <a:fontScheme name="PG-S2-47 Dem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PG-S2-47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PG-S2-47 prototype demo</dc:title>
  <dc:subject>PptxGenJS Presentation</dc:subject>
  <dc:creator>Fazin Faizal</dc:creator>
  <cp:lastModifiedBy>Fazin Faizal</cp:lastModifiedBy>
  <cp:revision>1</cp:revision>
  <dcterms:created xsi:type="dcterms:W3CDTF">2026-10-22T00:24:22Z</dcterms:created>
  <dcterms:modified xsi:type="dcterms:W3CDTF">2026-10-22T00:24:22Z</dcterms:modified>
</cp:coreProperties>
</file>